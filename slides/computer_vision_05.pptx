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bde168f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bde168f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bde168f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bde168f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bde168fd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bde168fd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bde168fd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bde168fd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bde168fd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bde168fd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bde168fd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bde168f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bde168fd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bde168f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bde168fd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bde168fd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bde168fd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bde168fd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bde168fd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bde168fd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bde168fd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bde168fd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bde168fd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bde168fd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bde168fd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bde168fd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bde168fd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bde168fd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bde168fd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bde168fd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bde168fd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bde168fd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bde168fd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bde168fd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bde168fd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bde168fd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bde168fd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bde168fd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Local features &amp; Harris corner detection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175" y="1620315"/>
            <a:ext cx="5328101" cy="19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/>
              <a:t>Feature extraction—Corners and blobs</a:t>
            </a:r>
            <a:endParaRPr sz="2420"/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00" y="1017725"/>
            <a:ext cx="754455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Motivation: Automatic panoramas</a:t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570" y="1102375"/>
            <a:ext cx="4894851" cy="18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1400" y="3031500"/>
            <a:ext cx="6965206" cy="193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6"/>
          <p:cNvCxnSpPr>
            <a:stCxn id="71" idx="2"/>
            <a:endCxn id="72" idx="0"/>
          </p:cNvCxnSpPr>
          <p:nvPr/>
        </p:nvCxnSpPr>
        <p:spPr>
          <a:xfrm>
            <a:off x="4683995" y="2904300"/>
            <a:ext cx="0" cy="12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Panorama stitching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60619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932775" y="3964275"/>
            <a:ext cx="7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Panorama captured by Perseverence Rover, Feb. 20, 2021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1399175" y="4552425"/>
            <a:ext cx="69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https://www.space.com/nasa-perseverance-rover-ﬁrst-panorama-mars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extract features?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Motivation: panorama stitching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– We have two images – how do we combine them?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175" y="2416725"/>
            <a:ext cx="2754625" cy="19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3074" y="2416719"/>
            <a:ext cx="2754625" cy="1992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extract features?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Motivation: panorama stitching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– We have two images – how do we combine them?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108" y="2571745"/>
            <a:ext cx="5055775" cy="18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120125" y="32717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 extract </a:t>
            </a:r>
            <a:r>
              <a:rPr lang="en-GB">
                <a:solidFill>
                  <a:schemeClr val="dk1"/>
                </a:solidFill>
              </a:rPr>
              <a:t>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 match </a:t>
            </a:r>
            <a:r>
              <a:rPr lang="en-GB">
                <a:solidFill>
                  <a:schemeClr val="dk1"/>
                </a:solidFill>
              </a:rPr>
              <a:t>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416900" y="18938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 extract </a:t>
            </a:r>
            <a:r>
              <a:rPr lang="en-GB">
                <a:solidFill>
                  <a:schemeClr val="dk1"/>
                </a:solidFill>
              </a:rPr>
              <a:t>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 match </a:t>
            </a:r>
            <a:r>
              <a:rPr lang="en-GB">
                <a:solidFill>
                  <a:schemeClr val="dk1"/>
                </a:solidFill>
              </a:rPr>
              <a:t>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3: align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425" y="1162900"/>
            <a:ext cx="5429350" cy="27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these images overlap?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425" y="1523425"/>
            <a:ext cx="3048700" cy="30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58750"/>
            <a:ext cx="3048700" cy="30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 below (look for tiny colored squares…)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325" y="1086550"/>
            <a:ext cx="3472675" cy="347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86550"/>
            <a:ext cx="3472675" cy="347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1288975" y="4481500"/>
            <a:ext cx="6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NASA Mars Rover images with SIFT feature matches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ORB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-GB" sz="1100">
                <a:solidFill>
                  <a:schemeClr val="dk1"/>
                </a:solidFill>
              </a:rPr>
              <a:t>Keypoints</a:t>
            </a:r>
            <a:r>
              <a:rPr lang="en-GB" sz="1100">
                <a:solidFill>
                  <a:schemeClr val="dk1"/>
                </a:solidFill>
              </a:rPr>
              <a:t> are detected using </a:t>
            </a:r>
            <a:r>
              <a:rPr b="1" lang="en-GB" sz="1100">
                <a:solidFill>
                  <a:schemeClr val="dk1"/>
                </a:solidFill>
              </a:rPr>
              <a:t>FAST</a:t>
            </a:r>
            <a:r>
              <a:rPr lang="en-GB" sz="1100">
                <a:solidFill>
                  <a:schemeClr val="dk1"/>
                </a:solidFill>
              </a:rPr>
              <a:t>. These keypoints are typically </a:t>
            </a:r>
            <a:r>
              <a:rPr b="1" lang="en-GB" sz="1100">
                <a:solidFill>
                  <a:schemeClr val="dk1"/>
                </a:solidFill>
              </a:rPr>
              <a:t>corners</a:t>
            </a:r>
            <a:r>
              <a:rPr lang="en-GB" sz="1100">
                <a:solidFill>
                  <a:schemeClr val="dk1"/>
                </a:solidFill>
              </a:rPr>
              <a:t> in the image. (points with brightness </a:t>
            </a:r>
            <a:r>
              <a:rPr lang="en-GB" sz="1100">
                <a:solidFill>
                  <a:schemeClr val="dk1"/>
                </a:solidFill>
              </a:rPr>
              <a:t>differences</a:t>
            </a:r>
            <a:r>
              <a:rPr lang="en-GB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-GB" sz="1100">
                <a:solidFill>
                  <a:schemeClr val="dk1"/>
                </a:solidFill>
              </a:rPr>
              <a:t>Orientation</a:t>
            </a:r>
            <a:r>
              <a:rPr lang="en-GB" sz="1100">
                <a:solidFill>
                  <a:schemeClr val="dk1"/>
                </a:solidFill>
              </a:rPr>
              <a:t> is calculated for each keypoint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-GB" sz="1100">
                <a:solidFill>
                  <a:schemeClr val="dk1"/>
                </a:solidFill>
              </a:rPr>
              <a:t>BRIEF</a:t>
            </a:r>
            <a:r>
              <a:rPr lang="en-GB" sz="1100">
                <a:solidFill>
                  <a:schemeClr val="dk1"/>
                </a:solidFill>
              </a:rPr>
              <a:t> is used to create a binary </a:t>
            </a:r>
            <a:r>
              <a:rPr b="1" lang="en-GB" sz="1100">
                <a:solidFill>
                  <a:schemeClr val="dk1"/>
                </a:solidFill>
              </a:rPr>
              <a:t>descriptor</a:t>
            </a:r>
            <a:r>
              <a:rPr lang="en-GB" sz="1100">
                <a:solidFill>
                  <a:schemeClr val="dk1"/>
                </a:solidFill>
              </a:rPr>
              <a:t> for each keypoint, which describes the local region around the keypoint.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>
                <a:solidFill>
                  <a:schemeClr val="dk1"/>
                </a:solidFill>
              </a:rPr>
              <a:t>The </a:t>
            </a:r>
            <a:r>
              <a:rPr b="1" lang="en-GB" sz="1100">
                <a:solidFill>
                  <a:schemeClr val="dk1"/>
                </a:solidFill>
              </a:rPr>
              <a:t>descriptor</a:t>
            </a:r>
            <a:r>
              <a:rPr lang="en-GB" sz="1100">
                <a:solidFill>
                  <a:schemeClr val="dk1"/>
                </a:solidFill>
              </a:rPr>
              <a:t> is made </a:t>
            </a:r>
            <a:r>
              <a:rPr b="1" lang="en-GB" sz="1100">
                <a:solidFill>
                  <a:schemeClr val="dk1"/>
                </a:solidFill>
              </a:rPr>
              <a:t>rotation-invariant</a:t>
            </a:r>
            <a:r>
              <a:rPr lang="en-GB" sz="1100">
                <a:solidFill>
                  <a:schemeClr val="dk1"/>
                </a:solidFill>
              </a:rPr>
              <a:t> by adjusting for the </a:t>
            </a:r>
            <a:r>
              <a:rPr lang="en-GB" sz="1100">
                <a:solidFill>
                  <a:schemeClr val="dk1"/>
                </a:solidFill>
              </a:rPr>
              <a:t>keypoints</a:t>
            </a:r>
            <a:r>
              <a:rPr lang="en-GB" sz="1100">
                <a:solidFill>
                  <a:schemeClr val="dk1"/>
                </a:solidFill>
              </a:rPr>
              <a:t> orientation (it does </a:t>
            </a:r>
            <a:r>
              <a:rPr lang="en-GB" sz="1100">
                <a:solidFill>
                  <a:schemeClr val="dk1"/>
                </a:solidFill>
              </a:rPr>
              <a:t>calculate</a:t>
            </a:r>
            <a:r>
              <a:rPr lang="en-GB" sz="1100">
                <a:solidFill>
                  <a:schemeClr val="dk1"/>
                </a:solidFill>
              </a:rPr>
              <a:t> the </a:t>
            </a:r>
            <a:r>
              <a:rPr lang="en-GB" sz="1100">
                <a:solidFill>
                  <a:schemeClr val="dk1"/>
                </a:solidFill>
              </a:rPr>
              <a:t>gradient</a:t>
            </a:r>
            <a:r>
              <a:rPr lang="en-GB" sz="1100">
                <a:solidFill>
                  <a:schemeClr val="dk1"/>
                </a:solidFill>
              </a:rPr>
              <a:t> around it and then use the dominant </a:t>
            </a:r>
            <a:r>
              <a:rPr lang="en-GB" sz="1100">
                <a:solidFill>
                  <a:schemeClr val="dk1"/>
                </a:solidFill>
              </a:rPr>
              <a:t>gradient</a:t>
            </a:r>
            <a:r>
              <a:rPr lang="en-GB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the code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algorithms/SLAM/main.py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5731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Simultaneous Localization and Mapping (SLAM)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575" y="1371100"/>
            <a:ext cx="5444250" cy="295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matching for object search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25" y="1163075"/>
            <a:ext cx="735919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Local features: main components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278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Detection: Identify the interest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2) Description: Extract vector feature descriptor surrounding each interest point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3) Matching: Determine correspondence between descriptors in two views</a:t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850" y="1017725"/>
            <a:ext cx="329334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025" y="728000"/>
            <a:ext cx="631785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Invariant local features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/>
              <a:t>Find features that are invariant to transformations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/>
              <a:t>– geometric invariance: translation, rotation, scale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– photometric invariance: brightness, exposure, …</a:t>
            </a:r>
            <a:endParaRPr sz="1500"/>
          </a:p>
        </p:txBody>
      </p:sp>
      <p:pic>
        <p:nvPicPr>
          <p:cNvPr id="161" name="Google Shape;1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350" y="2289552"/>
            <a:ext cx="6084250" cy="27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backup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V</a:t>
            </a:r>
            <a:r>
              <a:rPr lang="en-GB" sz="1400"/>
              <a:t>isual Slam</a:t>
            </a:r>
            <a:endParaRPr/>
          </a:p>
        </p:txBody>
      </p:sp>
      <p:sp>
        <p:nvSpPr>
          <p:cNvPr id="173" name="Google Shape;173;p31"/>
          <p:cNvSpPr txBox="1"/>
          <p:nvPr/>
        </p:nvSpPr>
        <p:spPr>
          <a:xfrm>
            <a:off x="932775" y="4471300"/>
            <a:ext cx="53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https://www.kudan.io/blog/visual-slam-the-basics/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SLAM process</a:t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1728375"/>
            <a:ext cx="66675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