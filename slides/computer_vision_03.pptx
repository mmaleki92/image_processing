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bd9424c1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bd9424c1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d9424c1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d9424c1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d9424c1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d9424c1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d9424c1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d9424c1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bd9424c1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bd9424c1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bd9424c1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bd9424c1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bd9424c1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bd9424c1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bd9424c1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bd9424c1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bd9424c1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bd9424c1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3bd9424c1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3bd9424c1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3bd9424c1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3bd9424c1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bd9424c1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bd9424c1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3bd9424c1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3bd9424c1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3bd9424c16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3bd9424c16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bd9424c1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3bd9424c1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bd9424c1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3bd9424c1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bd9424c1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3bd9424c1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3bd9424c1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3bd9424c1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3bd9424c16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3bd9424c16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3bd9424c1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3bd9424c1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bd9424c1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3bd9424c1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bd9424c16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3bd9424c1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3bd9424c16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3bd9424c16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bd9424c1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3bd9424c1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bd9424c16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3bd9424c16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3bd9424c16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3bd9424c16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3bd9424c16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3bd9424c16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bd9424c16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3bd9424c16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bd9424c16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3bd9424c16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Lecture 2: Edge detection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716775" y="1034400"/>
            <a:ext cx="4930351" cy="3074700"/>
          </a:xfrm>
          <a:prstGeom prst="rect">
            <a:avLst/>
          </a:prstGeom>
          <a:noFill/>
          <a:ln>
            <a:noFill/>
          </a:ln>
        </p:spPr>
      </p:pic>
      <p:sp>
        <p:nvSpPr>
          <p:cNvPr id="60" name="Google Shape;60;p14"/>
          <p:cNvSpPr txBox="1"/>
          <p:nvPr/>
        </p:nvSpPr>
        <p:spPr>
          <a:xfrm>
            <a:off x="467750" y="425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Edge detection</a:t>
            </a:r>
            <a:endParaRPr/>
          </a:p>
        </p:txBody>
      </p:sp>
      <p:sp>
        <p:nvSpPr>
          <p:cNvPr id="61" name="Google Shape;61;p14"/>
          <p:cNvSpPr txBox="1"/>
          <p:nvPr/>
        </p:nvSpPr>
        <p:spPr>
          <a:xfrm>
            <a:off x="1207650" y="43543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 Convert a 2D image into a set of curves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Images as functions…</a:t>
            </a:r>
            <a:endParaRPr/>
          </a:p>
        </p:txBody>
      </p:sp>
      <p:pic>
        <p:nvPicPr>
          <p:cNvPr id="67" name="Google Shape;67;p15"/>
          <p:cNvPicPr preferRelativeResize="0"/>
          <p:nvPr/>
        </p:nvPicPr>
        <p:blipFill>
          <a:blip r:embed="rId3">
            <a:alphaModFix/>
          </a:blip>
          <a:stretch>
            <a:fillRect/>
          </a:stretch>
        </p:blipFill>
        <p:spPr>
          <a:xfrm>
            <a:off x="1942700" y="1152471"/>
            <a:ext cx="5593826" cy="2816000"/>
          </a:xfrm>
          <a:prstGeom prst="rect">
            <a:avLst/>
          </a:prstGeom>
          <a:noFill/>
          <a:ln>
            <a:noFill/>
          </a:ln>
        </p:spPr>
      </p:pic>
      <p:sp>
        <p:nvSpPr>
          <p:cNvPr id="68" name="Google Shape;68;p15"/>
          <p:cNvSpPr txBox="1"/>
          <p:nvPr/>
        </p:nvSpPr>
        <p:spPr>
          <a:xfrm>
            <a:off x="840900" y="4331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Edges look like steep cliffs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Characterizing edges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An edge is a place of rapid change in the image intensity function</a:t>
            </a:r>
            <a:endParaRPr/>
          </a:p>
        </p:txBody>
      </p:sp>
      <p:pic>
        <p:nvPicPr>
          <p:cNvPr id="75" name="Google Shape;75;p16"/>
          <p:cNvPicPr preferRelativeResize="0"/>
          <p:nvPr/>
        </p:nvPicPr>
        <p:blipFill>
          <a:blip r:embed="rId3">
            <a:alphaModFix/>
          </a:blip>
          <a:stretch>
            <a:fillRect/>
          </a:stretch>
        </p:blipFill>
        <p:spPr>
          <a:xfrm>
            <a:off x="1137872" y="1733472"/>
            <a:ext cx="6628175" cy="3068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Image derivatives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can we differentiate a digital image F[x,y]?</a:t>
            </a:r>
            <a:endParaRPr/>
          </a:p>
          <a:p>
            <a:pPr indent="0" lvl="0" marL="0" rtl="0" algn="l">
              <a:spcBef>
                <a:spcPts val="1200"/>
              </a:spcBef>
              <a:spcAft>
                <a:spcPts val="0"/>
              </a:spcAft>
              <a:buNone/>
            </a:pPr>
            <a:r>
              <a:rPr b="1" lang="en-GB"/>
              <a:t>Option 1:</a:t>
            </a:r>
            <a:r>
              <a:rPr lang="en-GB"/>
              <a:t>  reconstruct a continuous image, f, then compute the derivative</a:t>
            </a:r>
            <a:endParaRPr/>
          </a:p>
          <a:p>
            <a:pPr indent="0" lvl="0" marL="0" rtl="0" algn="l">
              <a:spcBef>
                <a:spcPts val="1200"/>
              </a:spcBef>
              <a:spcAft>
                <a:spcPts val="1200"/>
              </a:spcAft>
              <a:buNone/>
            </a:pPr>
            <a:r>
              <a:rPr b="1" lang="en-GB"/>
              <a:t>Option 2:</a:t>
            </a:r>
            <a:r>
              <a:rPr lang="en-GB"/>
              <a:t>  take discrete derivative (finite difference)</a:t>
            </a:r>
            <a:endParaRPr/>
          </a:p>
        </p:txBody>
      </p:sp>
      <p:pic>
        <p:nvPicPr>
          <p:cNvPr id="82" name="Google Shape;82;p17"/>
          <p:cNvPicPr preferRelativeResize="0"/>
          <p:nvPr/>
        </p:nvPicPr>
        <p:blipFill>
          <a:blip r:embed="rId3">
            <a:alphaModFix/>
          </a:blip>
          <a:stretch>
            <a:fillRect/>
          </a:stretch>
        </p:blipFill>
        <p:spPr>
          <a:xfrm>
            <a:off x="1936200" y="3011275"/>
            <a:ext cx="5356375" cy="810775"/>
          </a:xfrm>
          <a:prstGeom prst="rect">
            <a:avLst/>
          </a:prstGeom>
          <a:noFill/>
          <a:ln>
            <a:noFill/>
          </a:ln>
        </p:spPr>
      </p:pic>
      <p:sp>
        <p:nvSpPr>
          <p:cNvPr id="83" name="Google Shape;83;p17"/>
          <p:cNvSpPr txBox="1"/>
          <p:nvPr/>
        </p:nvSpPr>
        <p:spPr>
          <a:xfrm>
            <a:off x="607700" y="4148025"/>
            <a:ext cx="619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How would you implement this as a linear filter?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1266825" y="1524000"/>
            <a:ext cx="6610350" cy="2095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Image gradient</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The gradient of an image: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The gradient points in the direction of most rapid increase in intensity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95" name="Google Shape;95;p19"/>
          <p:cNvPicPr preferRelativeResize="0"/>
          <p:nvPr/>
        </p:nvPicPr>
        <p:blipFill>
          <a:blip r:embed="rId3">
            <a:alphaModFix/>
          </a:blip>
          <a:stretch>
            <a:fillRect/>
          </a:stretch>
        </p:blipFill>
        <p:spPr>
          <a:xfrm>
            <a:off x="3849674" y="1017724"/>
            <a:ext cx="2609075" cy="670650"/>
          </a:xfrm>
          <a:prstGeom prst="rect">
            <a:avLst/>
          </a:prstGeom>
          <a:noFill/>
          <a:ln>
            <a:noFill/>
          </a:ln>
        </p:spPr>
      </p:pic>
      <p:pic>
        <p:nvPicPr>
          <p:cNvPr id="96" name="Google Shape;96;p19"/>
          <p:cNvPicPr preferRelativeResize="0"/>
          <p:nvPr/>
        </p:nvPicPr>
        <p:blipFill>
          <a:blip r:embed="rId4">
            <a:alphaModFix/>
          </a:blip>
          <a:stretch>
            <a:fillRect/>
          </a:stretch>
        </p:blipFill>
        <p:spPr>
          <a:xfrm>
            <a:off x="585350" y="2909375"/>
            <a:ext cx="7620000" cy="116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edge strength is given by the gradient magnitude:</a:t>
            </a:r>
            <a:endParaRPr/>
          </a:p>
        </p:txBody>
      </p:sp>
      <p:pic>
        <p:nvPicPr>
          <p:cNvPr id="102" name="Google Shape;102;p20"/>
          <p:cNvPicPr preferRelativeResize="0"/>
          <p:nvPr/>
        </p:nvPicPr>
        <p:blipFill>
          <a:blip r:embed="rId3">
            <a:alphaModFix/>
          </a:blip>
          <a:stretch>
            <a:fillRect/>
          </a:stretch>
        </p:blipFill>
        <p:spPr>
          <a:xfrm>
            <a:off x="1554600" y="1754398"/>
            <a:ext cx="5342251" cy="963800"/>
          </a:xfrm>
          <a:prstGeom prst="rect">
            <a:avLst/>
          </a:prstGeom>
          <a:noFill/>
          <a:ln>
            <a:noFill/>
          </a:ln>
        </p:spPr>
      </p:pic>
      <p:sp>
        <p:nvSpPr>
          <p:cNvPr id="103" name="Google Shape;103;p20"/>
          <p:cNvSpPr txBox="1"/>
          <p:nvPr/>
        </p:nvSpPr>
        <p:spPr>
          <a:xfrm>
            <a:off x="431025" y="2791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The gradient direction is given by:</a:t>
            </a:r>
            <a:endParaRPr/>
          </a:p>
        </p:txBody>
      </p:sp>
      <p:pic>
        <p:nvPicPr>
          <p:cNvPr id="104" name="Google Shape;104;p20"/>
          <p:cNvPicPr preferRelativeResize="0"/>
          <p:nvPr/>
        </p:nvPicPr>
        <p:blipFill>
          <a:blip r:embed="rId4">
            <a:alphaModFix/>
          </a:blip>
          <a:stretch>
            <a:fillRect/>
          </a:stretch>
        </p:blipFill>
        <p:spPr>
          <a:xfrm>
            <a:off x="2583194" y="3394769"/>
            <a:ext cx="3776599" cy="705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Image gradient</a:t>
            </a:r>
            <a:endParaRPr/>
          </a:p>
        </p:txBody>
      </p:sp>
      <p:pic>
        <p:nvPicPr>
          <p:cNvPr id="110" name="Google Shape;110;p21"/>
          <p:cNvPicPr preferRelativeResize="0"/>
          <p:nvPr/>
        </p:nvPicPr>
        <p:blipFill>
          <a:blip r:embed="rId3">
            <a:alphaModFix/>
          </a:blip>
          <a:stretch>
            <a:fillRect/>
          </a:stretch>
        </p:blipFill>
        <p:spPr>
          <a:xfrm>
            <a:off x="2420388" y="1057050"/>
            <a:ext cx="4303235" cy="3820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Effects of noise</a:t>
            </a:r>
            <a:endParaRPr/>
          </a:p>
        </p:txBody>
      </p:sp>
      <p:pic>
        <p:nvPicPr>
          <p:cNvPr id="116" name="Google Shape;116;p22"/>
          <p:cNvPicPr preferRelativeResize="0"/>
          <p:nvPr/>
        </p:nvPicPr>
        <p:blipFill>
          <a:blip r:embed="rId3">
            <a:alphaModFix/>
          </a:blip>
          <a:stretch>
            <a:fillRect/>
          </a:stretch>
        </p:blipFill>
        <p:spPr>
          <a:xfrm>
            <a:off x="754488" y="1017725"/>
            <a:ext cx="7635027" cy="38209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Solution: smooth ﬁrst</a:t>
            </a:r>
            <a:endParaRPr/>
          </a:p>
        </p:txBody>
      </p:sp>
      <p:pic>
        <p:nvPicPr>
          <p:cNvPr id="122" name="Google Shape;122;p23"/>
          <p:cNvPicPr preferRelativeResize="0"/>
          <p:nvPr/>
        </p:nvPicPr>
        <p:blipFill>
          <a:blip r:embed="rId3">
            <a:alphaModFix/>
          </a:blip>
          <a:stretch>
            <a:fillRect/>
          </a:stretch>
        </p:blipFill>
        <p:spPr>
          <a:xfrm>
            <a:off x="1944024" y="1440075"/>
            <a:ext cx="4800000" cy="3108101"/>
          </a:xfrm>
          <a:prstGeom prst="rect">
            <a:avLst/>
          </a:prstGeom>
          <a:noFill/>
          <a:ln>
            <a:noFill/>
          </a:ln>
        </p:spPr>
      </p:pic>
      <p:sp>
        <p:nvSpPr>
          <p:cNvPr id="123" name="Google Shape;123;p23"/>
          <p:cNvSpPr txBox="1"/>
          <p:nvPr/>
        </p:nvSpPr>
        <p:spPr>
          <a:xfrm>
            <a:off x="756900" y="45481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To ﬁnd edges, look for peaks in</a:t>
            </a:r>
            <a:endParaRPr/>
          </a:p>
        </p:txBody>
      </p:sp>
      <p:pic>
        <p:nvPicPr>
          <p:cNvPr id="124" name="Google Shape;124;p23"/>
          <p:cNvPicPr preferRelativeResize="0"/>
          <p:nvPr/>
        </p:nvPicPr>
        <p:blipFill>
          <a:blip r:embed="rId4">
            <a:alphaModFix/>
          </a:blip>
          <a:stretch>
            <a:fillRect/>
          </a:stretch>
        </p:blipFill>
        <p:spPr>
          <a:xfrm>
            <a:off x="3477649" y="4548168"/>
            <a:ext cx="763600" cy="57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Associative property of convolution</a:t>
            </a:r>
            <a:endParaRPr/>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Diﬀerentiation is convolution, and convolution is associative: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 This saves us one operation: f</a:t>
            </a:r>
            <a:endParaRPr/>
          </a:p>
        </p:txBody>
      </p:sp>
      <p:pic>
        <p:nvPicPr>
          <p:cNvPr id="131" name="Google Shape;131;p24"/>
          <p:cNvPicPr preferRelativeResize="0"/>
          <p:nvPr/>
        </p:nvPicPr>
        <p:blipFill>
          <a:blip r:embed="rId3">
            <a:alphaModFix/>
          </a:blip>
          <a:stretch>
            <a:fillRect/>
          </a:stretch>
        </p:blipFill>
        <p:spPr>
          <a:xfrm>
            <a:off x="2909538" y="1599175"/>
            <a:ext cx="3171825" cy="1009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1D Gaussian and its derivatives</a:t>
            </a:r>
            <a:endParaRPr/>
          </a:p>
        </p:txBody>
      </p:sp>
      <p:pic>
        <p:nvPicPr>
          <p:cNvPr id="137" name="Google Shape;137;p25"/>
          <p:cNvPicPr preferRelativeResize="0"/>
          <p:nvPr/>
        </p:nvPicPr>
        <p:blipFill>
          <a:blip r:embed="rId3">
            <a:alphaModFix/>
          </a:blip>
          <a:stretch>
            <a:fillRect/>
          </a:stretch>
        </p:blipFill>
        <p:spPr>
          <a:xfrm>
            <a:off x="4929550" y="1283475"/>
            <a:ext cx="3753525" cy="1381400"/>
          </a:xfrm>
          <a:prstGeom prst="rect">
            <a:avLst/>
          </a:prstGeom>
          <a:noFill/>
          <a:ln>
            <a:noFill/>
          </a:ln>
        </p:spPr>
      </p:pic>
      <p:pic>
        <p:nvPicPr>
          <p:cNvPr id="138" name="Google Shape;138;p25"/>
          <p:cNvPicPr preferRelativeResize="0"/>
          <p:nvPr/>
        </p:nvPicPr>
        <p:blipFill>
          <a:blip r:embed="rId4">
            <a:alphaModFix/>
          </a:blip>
          <a:stretch>
            <a:fillRect/>
          </a:stretch>
        </p:blipFill>
        <p:spPr>
          <a:xfrm>
            <a:off x="245975" y="1756950"/>
            <a:ext cx="4624750" cy="31835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2D edge detection ﬁlters</a:t>
            </a:r>
            <a:endParaRPr/>
          </a:p>
        </p:txBody>
      </p:sp>
      <p:pic>
        <p:nvPicPr>
          <p:cNvPr id="144" name="Google Shape;144;p26"/>
          <p:cNvPicPr preferRelativeResize="0"/>
          <p:nvPr/>
        </p:nvPicPr>
        <p:blipFill>
          <a:blip r:embed="rId3">
            <a:alphaModFix/>
          </a:blip>
          <a:stretch>
            <a:fillRect/>
          </a:stretch>
        </p:blipFill>
        <p:spPr>
          <a:xfrm>
            <a:off x="501075" y="1017725"/>
            <a:ext cx="8028764"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7"/>
          <p:cNvPicPr preferRelativeResize="0"/>
          <p:nvPr/>
        </p:nvPicPr>
        <p:blipFill>
          <a:blip r:embed="rId3">
            <a:alphaModFix/>
          </a:blip>
          <a:stretch>
            <a:fillRect/>
          </a:stretch>
        </p:blipFill>
        <p:spPr>
          <a:xfrm>
            <a:off x="1632175" y="697350"/>
            <a:ext cx="5692249" cy="3894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Sobel operator</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Common approximation of derivative of Gaussian</a:t>
            </a:r>
            <a:endParaRPr/>
          </a:p>
        </p:txBody>
      </p:sp>
      <p:pic>
        <p:nvPicPr>
          <p:cNvPr id="156" name="Google Shape;156;p28"/>
          <p:cNvPicPr preferRelativeResize="0"/>
          <p:nvPr/>
        </p:nvPicPr>
        <p:blipFill>
          <a:blip r:embed="rId3">
            <a:alphaModFix/>
          </a:blip>
          <a:stretch>
            <a:fillRect/>
          </a:stretch>
        </p:blipFill>
        <p:spPr>
          <a:xfrm>
            <a:off x="1924375" y="1815525"/>
            <a:ext cx="5448300" cy="2209800"/>
          </a:xfrm>
          <a:prstGeom prst="rect">
            <a:avLst/>
          </a:prstGeom>
          <a:noFill/>
          <a:ln>
            <a:noFill/>
          </a:ln>
        </p:spPr>
      </p:pic>
      <p:sp>
        <p:nvSpPr>
          <p:cNvPr id="157" name="Google Shape;157;p28"/>
          <p:cNvSpPr txBox="1"/>
          <p:nvPr/>
        </p:nvSpPr>
        <p:spPr>
          <a:xfrm>
            <a:off x="238125" y="4025325"/>
            <a:ext cx="7807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 The standard deﬁnition of the Sobel operator omits the 1/8 term</a:t>
            </a:r>
            <a:endParaRPr/>
          </a:p>
          <a:p>
            <a:pPr indent="0" lvl="0" marL="0" rtl="0" algn="l">
              <a:spcBef>
                <a:spcPts val="0"/>
              </a:spcBef>
              <a:spcAft>
                <a:spcPts val="0"/>
              </a:spcAft>
              <a:buNone/>
            </a:pPr>
            <a:r>
              <a:rPr lang="en-GB"/>
              <a:t>– doesn’t make a diﬀerence for edge detection</a:t>
            </a:r>
            <a:endParaRPr/>
          </a:p>
          <a:p>
            <a:pPr indent="0" lvl="0" marL="0" rtl="0" algn="l">
              <a:spcBef>
                <a:spcPts val="0"/>
              </a:spcBef>
              <a:spcAft>
                <a:spcPts val="0"/>
              </a:spcAft>
              <a:buNone/>
            </a:pPr>
            <a:r>
              <a:rPr lang="en-GB"/>
              <a:t>– the 1/8 term is needed to get the right gradient magnitude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Sobel operator: example</a:t>
            </a:r>
            <a:endParaRPr/>
          </a:p>
        </p:txBody>
      </p:sp>
      <p:pic>
        <p:nvPicPr>
          <p:cNvPr id="163" name="Google Shape;163;p29"/>
          <p:cNvPicPr preferRelativeResize="0"/>
          <p:nvPr/>
        </p:nvPicPr>
        <p:blipFill>
          <a:blip r:embed="rId3">
            <a:alphaModFix/>
          </a:blip>
          <a:stretch>
            <a:fillRect/>
          </a:stretch>
        </p:blipFill>
        <p:spPr>
          <a:xfrm>
            <a:off x="1572625" y="1017725"/>
            <a:ext cx="6183247" cy="382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30"/>
          <p:cNvPicPr preferRelativeResize="0"/>
          <p:nvPr/>
        </p:nvPicPr>
        <p:blipFill>
          <a:blip r:embed="rId3">
            <a:alphaModFix/>
          </a:blip>
          <a:stretch>
            <a:fillRect/>
          </a:stretch>
        </p:blipFill>
        <p:spPr>
          <a:xfrm>
            <a:off x="820988" y="228925"/>
            <a:ext cx="7502020" cy="48387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a:t>
            </a:r>
            <a:endParaRPr/>
          </a:p>
        </p:txBody>
      </p:sp>
      <p:pic>
        <p:nvPicPr>
          <p:cNvPr id="174" name="Google Shape;174;p31"/>
          <p:cNvPicPr preferRelativeResize="0"/>
          <p:nvPr/>
        </p:nvPicPr>
        <p:blipFill>
          <a:blip r:embed="rId3">
            <a:alphaModFix/>
          </a:blip>
          <a:stretch>
            <a:fillRect/>
          </a:stretch>
        </p:blipFill>
        <p:spPr>
          <a:xfrm>
            <a:off x="2933050" y="891600"/>
            <a:ext cx="3360275" cy="3360275"/>
          </a:xfrm>
          <a:prstGeom prst="rect">
            <a:avLst/>
          </a:prstGeom>
          <a:noFill/>
          <a:ln>
            <a:noFill/>
          </a:ln>
        </p:spPr>
      </p:pic>
      <p:sp>
        <p:nvSpPr>
          <p:cNvPr id="175" name="Google Shape;175;p31"/>
          <p:cNvSpPr txBox="1"/>
          <p:nvPr/>
        </p:nvSpPr>
        <p:spPr>
          <a:xfrm>
            <a:off x="144575" y="4354275"/>
            <a:ext cx="699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Demo: http://bigwww.epﬂ.ch/demo/ip/demos/edgeDetector/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Finding edges</a:t>
            </a:r>
            <a:endParaRPr/>
          </a:p>
        </p:txBody>
      </p:sp>
      <p:pic>
        <p:nvPicPr>
          <p:cNvPr id="181" name="Google Shape;181;p32"/>
          <p:cNvPicPr preferRelativeResize="0"/>
          <p:nvPr/>
        </p:nvPicPr>
        <p:blipFill>
          <a:blip r:embed="rId3">
            <a:alphaModFix/>
          </a:blip>
          <a:stretch>
            <a:fillRect/>
          </a:stretch>
        </p:blipFill>
        <p:spPr>
          <a:xfrm>
            <a:off x="3264700" y="961950"/>
            <a:ext cx="3606925" cy="3606925"/>
          </a:xfrm>
          <a:prstGeom prst="rect">
            <a:avLst/>
          </a:prstGeom>
          <a:noFill/>
          <a:ln>
            <a:noFill/>
          </a:ln>
        </p:spPr>
      </p:pic>
      <p:sp>
        <p:nvSpPr>
          <p:cNvPr id="182" name="Google Shape;182;p32"/>
          <p:cNvSpPr txBox="1"/>
          <p:nvPr/>
        </p:nvSpPr>
        <p:spPr>
          <a:xfrm>
            <a:off x="3325250" y="46774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smoothed gradient magnitude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33"/>
          <p:cNvPicPr preferRelativeResize="0"/>
          <p:nvPr/>
        </p:nvPicPr>
        <p:blipFill>
          <a:blip r:embed="rId3">
            <a:alphaModFix/>
          </a:blip>
          <a:stretch>
            <a:fillRect/>
          </a:stretch>
        </p:blipFill>
        <p:spPr>
          <a:xfrm>
            <a:off x="1547125" y="304800"/>
            <a:ext cx="6616641" cy="4838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Get Orientation at Each Pixel</a:t>
            </a:r>
            <a:endParaRPr/>
          </a:p>
        </p:txBody>
      </p:sp>
      <p:sp>
        <p:nvSpPr>
          <p:cNvPr id="193" name="Google Shape;19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Get orientation (below, threshold at minimum gradient magnitude)</a:t>
            </a:r>
            <a:endParaRPr/>
          </a:p>
        </p:txBody>
      </p:sp>
      <p:pic>
        <p:nvPicPr>
          <p:cNvPr id="194" name="Google Shape;194;p34"/>
          <p:cNvPicPr preferRelativeResize="0"/>
          <p:nvPr/>
        </p:nvPicPr>
        <p:blipFill>
          <a:blip r:embed="rId3">
            <a:alphaModFix/>
          </a:blip>
          <a:stretch>
            <a:fillRect/>
          </a:stretch>
        </p:blipFill>
        <p:spPr>
          <a:xfrm>
            <a:off x="1996525" y="1741688"/>
            <a:ext cx="3148701" cy="3148701"/>
          </a:xfrm>
          <a:prstGeom prst="rect">
            <a:avLst/>
          </a:prstGeom>
          <a:noFill/>
          <a:ln>
            <a:noFill/>
          </a:ln>
        </p:spPr>
      </p:pic>
      <p:pic>
        <p:nvPicPr>
          <p:cNvPr id="195" name="Google Shape;195;p34"/>
          <p:cNvPicPr preferRelativeResize="0"/>
          <p:nvPr/>
        </p:nvPicPr>
        <p:blipFill>
          <a:blip r:embed="rId4">
            <a:alphaModFix/>
          </a:blip>
          <a:stretch>
            <a:fillRect/>
          </a:stretch>
        </p:blipFill>
        <p:spPr>
          <a:xfrm>
            <a:off x="5224949" y="1859050"/>
            <a:ext cx="1976025" cy="2913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Non-maximum </a:t>
            </a:r>
            <a:r>
              <a:rPr lang="en-GB"/>
              <a:t>suppression</a:t>
            </a:r>
            <a:endParaRPr/>
          </a:p>
        </p:txBody>
      </p:sp>
      <p:pic>
        <p:nvPicPr>
          <p:cNvPr id="201" name="Google Shape;201;p35"/>
          <p:cNvPicPr preferRelativeResize="0"/>
          <p:nvPr/>
        </p:nvPicPr>
        <p:blipFill>
          <a:blip r:embed="rId3">
            <a:alphaModFix/>
          </a:blip>
          <a:stretch>
            <a:fillRect/>
          </a:stretch>
        </p:blipFill>
        <p:spPr>
          <a:xfrm>
            <a:off x="1058075" y="1126175"/>
            <a:ext cx="6595925" cy="3269625"/>
          </a:xfrm>
          <a:prstGeom prst="rect">
            <a:avLst/>
          </a:prstGeom>
          <a:noFill/>
          <a:ln>
            <a:noFill/>
          </a:ln>
        </p:spPr>
      </p:pic>
      <p:sp>
        <p:nvSpPr>
          <p:cNvPr id="202" name="Google Shape;202;p35"/>
          <p:cNvSpPr txBox="1"/>
          <p:nvPr/>
        </p:nvSpPr>
        <p:spPr>
          <a:xfrm>
            <a:off x="748400" y="4395800"/>
            <a:ext cx="495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 Check if pixel is local maximum along gradient direction</a:t>
            </a:r>
            <a:endParaRPr/>
          </a:p>
        </p:txBody>
      </p:sp>
      <p:sp>
        <p:nvSpPr>
          <p:cNvPr id="203" name="Google Shape;203;p35"/>
          <p:cNvSpPr txBox="1"/>
          <p:nvPr/>
        </p:nvSpPr>
        <p:spPr>
          <a:xfrm>
            <a:off x="748400" y="4609425"/>
            <a:ext cx="42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 requires interpolating pixels p and 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6"/>
          <p:cNvSpPr txBox="1"/>
          <p:nvPr>
            <p:ph type="title"/>
          </p:nvPr>
        </p:nvSpPr>
        <p:spPr>
          <a:xfrm>
            <a:off x="90600" y="436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Before Non-max Suppression</a:t>
            </a:r>
            <a:endParaRPr/>
          </a:p>
        </p:txBody>
      </p:sp>
      <p:pic>
        <p:nvPicPr>
          <p:cNvPr id="209" name="Google Shape;209;p36"/>
          <p:cNvPicPr preferRelativeResize="0"/>
          <p:nvPr/>
        </p:nvPicPr>
        <p:blipFill>
          <a:blip r:embed="rId3">
            <a:alphaModFix/>
          </a:blip>
          <a:stretch>
            <a:fillRect/>
          </a:stretch>
        </p:blipFill>
        <p:spPr>
          <a:xfrm>
            <a:off x="424200" y="1189025"/>
            <a:ext cx="3309251" cy="3309251"/>
          </a:xfrm>
          <a:prstGeom prst="rect">
            <a:avLst/>
          </a:prstGeom>
          <a:noFill/>
          <a:ln>
            <a:noFill/>
          </a:ln>
        </p:spPr>
      </p:pic>
      <p:pic>
        <p:nvPicPr>
          <p:cNvPr id="210" name="Google Shape;210;p36"/>
          <p:cNvPicPr preferRelativeResize="0"/>
          <p:nvPr/>
        </p:nvPicPr>
        <p:blipFill>
          <a:blip r:embed="rId4">
            <a:alphaModFix/>
          </a:blip>
          <a:stretch>
            <a:fillRect/>
          </a:stretch>
        </p:blipFill>
        <p:spPr>
          <a:xfrm>
            <a:off x="5301950" y="1189025"/>
            <a:ext cx="3309251" cy="3309251"/>
          </a:xfrm>
          <a:prstGeom prst="rect">
            <a:avLst/>
          </a:prstGeom>
          <a:noFill/>
          <a:ln>
            <a:noFill/>
          </a:ln>
        </p:spPr>
      </p:pic>
      <p:sp>
        <p:nvSpPr>
          <p:cNvPr id="211" name="Google Shape;211;p36"/>
          <p:cNvSpPr txBox="1"/>
          <p:nvPr/>
        </p:nvSpPr>
        <p:spPr>
          <a:xfrm>
            <a:off x="5456575" y="6090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After Non-max Suppression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Thresholding edges</a:t>
            </a:r>
            <a:endParaRPr/>
          </a:p>
        </p:txBody>
      </p:sp>
      <p:sp>
        <p:nvSpPr>
          <p:cNvPr id="217" name="Google Shape;21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t>Still some noise</a:t>
            </a:r>
            <a:endParaRPr/>
          </a:p>
          <a:p>
            <a:pPr indent="0" lvl="0" marL="0" rtl="0" algn="l">
              <a:spcBef>
                <a:spcPts val="1200"/>
              </a:spcBef>
              <a:spcAft>
                <a:spcPts val="0"/>
              </a:spcAft>
              <a:buClr>
                <a:schemeClr val="dk1"/>
              </a:buClr>
              <a:buSzPts val="1100"/>
              <a:buFont typeface="Arial"/>
              <a:buNone/>
            </a:pPr>
            <a:r>
              <a:rPr lang="en-GB"/>
              <a:t>• Only want strong edges</a:t>
            </a:r>
            <a:endParaRPr/>
          </a:p>
          <a:p>
            <a:pPr indent="0" lvl="0" marL="0" rtl="0" algn="l">
              <a:spcBef>
                <a:spcPts val="1200"/>
              </a:spcBef>
              <a:spcAft>
                <a:spcPts val="0"/>
              </a:spcAft>
              <a:buClr>
                <a:schemeClr val="dk1"/>
              </a:buClr>
              <a:buSzPts val="1100"/>
              <a:buFont typeface="Arial"/>
              <a:buNone/>
            </a:pPr>
            <a:r>
              <a:rPr lang="en-GB"/>
              <a:t>• 2 thresholds, 3 cases</a:t>
            </a:r>
            <a:endParaRPr/>
          </a:p>
          <a:p>
            <a:pPr indent="457200" lvl="0" marL="0" rtl="0" algn="l">
              <a:spcBef>
                <a:spcPts val="1200"/>
              </a:spcBef>
              <a:spcAft>
                <a:spcPts val="0"/>
              </a:spcAft>
              <a:buClr>
                <a:schemeClr val="dk1"/>
              </a:buClr>
              <a:buSzPts val="1100"/>
              <a:buFont typeface="Arial"/>
              <a:buNone/>
            </a:pPr>
            <a:r>
              <a:rPr lang="en-GB"/>
              <a:t>• R &gt; T: strong edge</a:t>
            </a:r>
            <a:endParaRPr/>
          </a:p>
          <a:p>
            <a:pPr indent="457200" lvl="0" marL="0" rtl="0" algn="l">
              <a:spcBef>
                <a:spcPts val="1200"/>
              </a:spcBef>
              <a:spcAft>
                <a:spcPts val="0"/>
              </a:spcAft>
              <a:buClr>
                <a:schemeClr val="dk1"/>
              </a:buClr>
              <a:buSzPts val="1100"/>
              <a:buFont typeface="Arial"/>
              <a:buNone/>
            </a:pPr>
            <a:r>
              <a:rPr lang="en-GB"/>
              <a:t>• R &lt; T but R &gt; t: weak </a:t>
            </a:r>
            <a:r>
              <a:rPr lang="en-GB"/>
              <a:t>edge</a:t>
            </a:r>
            <a:endParaRPr/>
          </a:p>
          <a:p>
            <a:pPr indent="457200" lvl="0" marL="0" rtl="0" algn="l">
              <a:spcBef>
                <a:spcPts val="1200"/>
              </a:spcBef>
              <a:spcAft>
                <a:spcPts val="0"/>
              </a:spcAft>
              <a:buClr>
                <a:schemeClr val="dk1"/>
              </a:buClr>
              <a:buSzPts val="1100"/>
              <a:buFont typeface="Arial"/>
              <a:buNone/>
            </a:pPr>
            <a:r>
              <a:rPr lang="en-GB"/>
              <a:t>• R &lt; t: no edge</a:t>
            </a:r>
            <a:endParaRPr/>
          </a:p>
          <a:p>
            <a:pPr indent="0" lvl="0" marL="0" rtl="0" algn="l">
              <a:spcBef>
                <a:spcPts val="1200"/>
              </a:spcBef>
              <a:spcAft>
                <a:spcPts val="1200"/>
              </a:spcAft>
              <a:buNone/>
            </a:pPr>
            <a:r>
              <a:rPr lang="en-GB"/>
              <a:t>• Why two thresholds?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edge detector</a:t>
            </a:r>
            <a:endParaRPr/>
          </a:p>
        </p:txBody>
      </p:sp>
      <p:sp>
        <p:nvSpPr>
          <p:cNvPr id="223" name="Google Shape;22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Our ﬁrst computer vision pipeline!</a:t>
            </a:r>
            <a:endParaRPr/>
          </a:p>
          <a:p>
            <a:pPr indent="0" lvl="0" marL="0" rtl="0" algn="l">
              <a:spcBef>
                <a:spcPts val="1200"/>
              </a:spcBef>
              <a:spcAft>
                <a:spcPts val="0"/>
              </a:spcAft>
              <a:buNone/>
            </a:pPr>
            <a:r>
              <a:rPr lang="en-GB"/>
              <a:t>• Still a widely used edge detector in computer vision</a:t>
            </a:r>
            <a:endParaRPr/>
          </a:p>
          <a:p>
            <a:pPr indent="0" lvl="0" marL="0" rtl="0" algn="l">
              <a:spcBef>
                <a:spcPts val="1200"/>
              </a:spcBef>
              <a:spcAft>
                <a:spcPts val="0"/>
              </a:spcAft>
              <a:buNone/>
            </a:pPr>
            <a:r>
              <a:rPr i="1" lang="en-GB" sz="1000">
                <a:solidFill>
                  <a:srgbClr val="000000"/>
                </a:solidFill>
              </a:rPr>
              <a:t>J. Canny, A Computational Approach To Edge Detection, IEEE Trans. Pattern Analysis and Machine Intelligence, 8:679-714, 1986</a:t>
            </a:r>
            <a:endParaRPr i="1" sz="1000">
              <a:solidFill>
                <a:srgbClr val="000000"/>
              </a:solidFill>
            </a:endParaRPr>
          </a:p>
          <a:p>
            <a:pPr indent="0" lvl="0" marL="0" rtl="0" algn="l">
              <a:spcBef>
                <a:spcPts val="1200"/>
              </a:spcBef>
              <a:spcAft>
                <a:spcPts val="1200"/>
              </a:spcAft>
              <a:buNone/>
            </a:pPr>
            <a:r>
              <a:t/>
            </a:r>
            <a:endParaRPr i="1" sz="10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Connecting edges</a:t>
            </a:r>
            <a:endParaRPr/>
          </a:p>
        </p:txBody>
      </p:sp>
      <p:sp>
        <p:nvSpPr>
          <p:cNvPr id="229" name="Google Shape;22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Strong edges are edges!</a:t>
            </a:r>
            <a:endParaRPr/>
          </a:p>
          <a:p>
            <a:pPr indent="-342900" lvl="0" marL="457200" rtl="0" algn="l">
              <a:spcBef>
                <a:spcPts val="0"/>
              </a:spcBef>
              <a:spcAft>
                <a:spcPts val="0"/>
              </a:spcAft>
              <a:buSzPts val="1800"/>
              <a:buChar char="●"/>
            </a:pPr>
            <a:r>
              <a:rPr lang="en-GB"/>
              <a:t>Weak edges are edges if they connect to strong</a:t>
            </a:r>
            <a:endParaRPr/>
          </a:p>
          <a:p>
            <a:pPr indent="0" lvl="0" marL="0" rtl="0" algn="l">
              <a:spcBef>
                <a:spcPts val="1200"/>
              </a:spcBef>
              <a:spcAft>
                <a:spcPts val="0"/>
              </a:spcAft>
              <a:buClr>
                <a:schemeClr val="dk1"/>
              </a:buClr>
              <a:buSzPts val="1100"/>
              <a:buFont typeface="Arial"/>
              <a:buNone/>
            </a:pPr>
            <a:r>
              <a:rPr lang="en-GB"/>
              <a:t>• Look in some neighborhood</a:t>
            </a:r>
            <a:endParaRPr/>
          </a:p>
          <a:p>
            <a:pPr indent="457200" lvl="0" marL="0" rtl="0" algn="l">
              <a:spcBef>
                <a:spcPts val="1200"/>
              </a:spcBef>
              <a:spcAft>
                <a:spcPts val="1200"/>
              </a:spcAft>
              <a:buNone/>
            </a:pPr>
            <a:r>
              <a:rPr lang="en-GB"/>
              <a:t>(usually 8 closest)</a:t>
            </a:r>
            <a:endParaRPr/>
          </a:p>
        </p:txBody>
      </p:sp>
      <p:pic>
        <p:nvPicPr>
          <p:cNvPr id="230" name="Google Shape;230;p39"/>
          <p:cNvPicPr preferRelativeResize="0"/>
          <p:nvPr/>
        </p:nvPicPr>
        <p:blipFill>
          <a:blip r:embed="rId3">
            <a:alphaModFix/>
          </a:blip>
          <a:stretch>
            <a:fillRect/>
          </a:stretch>
        </p:blipFill>
        <p:spPr>
          <a:xfrm>
            <a:off x="4421300" y="901475"/>
            <a:ext cx="3538875" cy="35388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edge detector</a:t>
            </a:r>
            <a:endParaRPr/>
          </a:p>
        </p:txBody>
      </p:sp>
      <p:sp>
        <p:nvSpPr>
          <p:cNvPr id="236" name="Google Shape;236;p40"/>
          <p:cNvSpPr txBox="1"/>
          <p:nvPr>
            <p:ph idx="1" type="body"/>
          </p:nvPr>
        </p:nvSpPr>
        <p:spPr>
          <a:xfrm>
            <a:off x="1371350" y="1017725"/>
            <a:ext cx="7739100" cy="4059600"/>
          </a:xfrm>
          <a:prstGeom prst="rect">
            <a:avLst/>
          </a:prstGeom>
        </p:spPr>
        <p:txBody>
          <a:bodyPr anchorCtr="0" anchor="t" bIns="91425" lIns="91425" spcFirstLastPara="1" rIns="91425" wrap="square" tIns="91425">
            <a:normAutofit fontScale="25000" lnSpcReduction="10000"/>
          </a:bodyPr>
          <a:lstStyle/>
          <a:p>
            <a:pPr indent="0" lvl="0" marL="0" rtl="0" algn="l">
              <a:spcBef>
                <a:spcPts val="0"/>
              </a:spcBef>
              <a:spcAft>
                <a:spcPts val="0"/>
              </a:spcAft>
              <a:buNone/>
            </a:pPr>
            <a:r>
              <a:rPr lang="en-GB" sz="5953"/>
              <a:t>1. Filter image with derivative of Gaussian</a:t>
            </a:r>
            <a:endParaRPr sz="5953"/>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sz="6200"/>
              <a:t>2. Find magnitude and orientation of Gradient</a:t>
            </a:r>
            <a:endParaRPr sz="62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sz="5800"/>
              <a:t>3. Non-maximum suppression</a:t>
            </a:r>
            <a:endParaRPr sz="5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sz="5800"/>
              <a:t>4. Linking and thresholding (hysteresis):</a:t>
            </a:r>
            <a:endParaRPr sz="5800"/>
          </a:p>
          <a:p>
            <a:pPr indent="0" lvl="0" marL="0" rtl="0" algn="l">
              <a:spcBef>
                <a:spcPts val="1200"/>
              </a:spcBef>
              <a:spcAft>
                <a:spcPts val="0"/>
              </a:spcAft>
              <a:buNone/>
            </a:pPr>
            <a:r>
              <a:rPr lang="en-GB" sz="3000"/>
              <a:t>– Deﬁne two thresholds: low and high</a:t>
            </a:r>
            <a:endParaRPr sz="3000"/>
          </a:p>
          <a:p>
            <a:pPr indent="0" lvl="0" marL="0" rtl="0" algn="l">
              <a:spcBef>
                <a:spcPts val="1200"/>
              </a:spcBef>
              <a:spcAft>
                <a:spcPts val="1200"/>
              </a:spcAft>
              <a:buNone/>
            </a:pPr>
            <a:r>
              <a:rPr lang="en-GB" sz="3000"/>
              <a:t>– Use the high threshold to start edge curves and the low threshold to continue them</a:t>
            </a:r>
            <a:endParaRPr sz="3000"/>
          </a:p>
        </p:txBody>
      </p:sp>
      <p:pic>
        <p:nvPicPr>
          <p:cNvPr id="237" name="Google Shape;237;p40"/>
          <p:cNvPicPr preferRelativeResize="0"/>
          <p:nvPr/>
        </p:nvPicPr>
        <p:blipFill>
          <a:blip r:embed="rId3">
            <a:alphaModFix/>
          </a:blip>
          <a:stretch>
            <a:fillRect/>
          </a:stretch>
        </p:blipFill>
        <p:spPr>
          <a:xfrm>
            <a:off x="254625" y="944000"/>
            <a:ext cx="1116725" cy="4293051"/>
          </a:xfrm>
          <a:prstGeom prst="rect">
            <a:avLst/>
          </a:prstGeom>
          <a:noFill/>
          <a:ln>
            <a:noFill/>
          </a:ln>
        </p:spPr>
      </p:pic>
      <p:sp>
        <p:nvSpPr>
          <p:cNvPr id="238" name="Google Shape;238;p40"/>
          <p:cNvSpPr txBox="1"/>
          <p:nvPr/>
        </p:nvSpPr>
        <p:spPr>
          <a:xfrm>
            <a:off x="6063700" y="3733450"/>
            <a:ext cx="3000000" cy="81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900">
                <a:solidFill>
                  <a:schemeClr val="dk2"/>
                </a:solidFill>
              </a:rPr>
              <a:t>Source: D. Lowe, L. Fei-Fei, J.</a:t>
            </a:r>
            <a:endParaRPr sz="3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300">
                <a:solidFill>
                  <a:schemeClr val="dk1"/>
                </a:solidFill>
              </a:rPr>
              <a:t>Edge Tracking by Hysteresis (Double Thresholding)</a:t>
            </a:r>
            <a:endParaRPr b="1" sz="13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Why</a:t>
            </a:r>
            <a:r>
              <a:rPr lang="en-GB" sz="1100">
                <a:solidFill>
                  <a:schemeClr val="dk1"/>
                </a:solidFill>
              </a:rPr>
              <a:t>: After non-maximum suppression, we have some pixels that are strong edges, some that are weak edges, and some that are not edges at all. The weak edges may or may not be part of the real edge. To decide which weak edges should be kept, hysteresis is used.</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How</a:t>
            </a:r>
            <a:r>
              <a:rPr lang="en-GB" sz="1100">
                <a:solidFill>
                  <a:schemeClr val="dk1"/>
                </a:solidFill>
              </a:rPr>
              <a:t>: This is done by applying two thresholds, a </a:t>
            </a:r>
            <a:r>
              <a:rPr b="1" lang="en-GB" sz="1100">
                <a:solidFill>
                  <a:schemeClr val="dk1"/>
                </a:solidFill>
              </a:rPr>
              <a:t>low threshold</a:t>
            </a:r>
            <a:r>
              <a:rPr lang="en-GB" sz="1100">
                <a:solidFill>
                  <a:schemeClr val="dk1"/>
                </a:solidFill>
              </a:rPr>
              <a:t> and a </a:t>
            </a:r>
            <a:r>
              <a:rPr b="1" lang="en-GB" sz="1100">
                <a:solidFill>
                  <a:schemeClr val="dk1"/>
                </a:solidFill>
              </a:rPr>
              <a:t>high threshold</a:t>
            </a:r>
            <a:r>
              <a:rPr lang="en-GB"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Strong edges</a:t>
            </a:r>
            <a:r>
              <a:rPr lang="en-GB" sz="1100">
                <a:solidFill>
                  <a:schemeClr val="dk1"/>
                </a:solidFill>
              </a:rPr>
              <a:t>: Pixels with gradient magnitudes greater than the high threshold are considered strong edges and are retained.</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Weak edges</a:t>
            </a:r>
            <a:r>
              <a:rPr lang="en-GB" sz="1100">
                <a:solidFill>
                  <a:schemeClr val="dk1"/>
                </a:solidFill>
              </a:rPr>
              <a:t>: Pixels with gradient magnitudes between the low and high thresholds are considered weak edges. These are retained only if they are connected to strong edges.</a:t>
            </a:r>
            <a:endParaRPr sz="1100">
              <a:solidFill>
                <a:schemeClr val="dk1"/>
              </a:solidFill>
            </a:endParaRPr>
          </a:p>
          <a:p>
            <a:pPr indent="-298450" lvl="1" marL="914400" rtl="0" algn="l">
              <a:spcBef>
                <a:spcPts val="0"/>
              </a:spcBef>
              <a:spcAft>
                <a:spcPts val="0"/>
              </a:spcAft>
              <a:buClr>
                <a:schemeClr val="dk1"/>
              </a:buClr>
              <a:buSzPts val="1100"/>
              <a:buChar char="○"/>
            </a:pPr>
            <a:r>
              <a:rPr b="1" lang="en-GB" sz="1100">
                <a:solidFill>
                  <a:schemeClr val="dk1"/>
                </a:solidFill>
              </a:rPr>
              <a:t>Non-edges</a:t>
            </a:r>
            <a:r>
              <a:rPr lang="en-GB" sz="1100">
                <a:solidFill>
                  <a:schemeClr val="dk1"/>
                </a:solidFill>
              </a:rPr>
              <a:t>: Pixels with gradient magnitudes below the low threshold are discarded.</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Canny edge detector</a:t>
            </a:r>
            <a:endParaRPr/>
          </a:p>
        </p:txBody>
      </p:sp>
      <p:pic>
        <p:nvPicPr>
          <p:cNvPr id="249" name="Google Shape;249;p42"/>
          <p:cNvPicPr preferRelativeResize="0"/>
          <p:nvPr/>
        </p:nvPicPr>
        <p:blipFill>
          <a:blip r:embed="rId3">
            <a:alphaModFix/>
          </a:blip>
          <a:stretch>
            <a:fillRect/>
          </a:stretch>
        </p:blipFill>
        <p:spPr>
          <a:xfrm>
            <a:off x="628650" y="1017725"/>
            <a:ext cx="7246501" cy="2677875"/>
          </a:xfrm>
          <a:prstGeom prst="rect">
            <a:avLst/>
          </a:prstGeom>
          <a:noFill/>
          <a:ln>
            <a:noFill/>
          </a:ln>
        </p:spPr>
      </p:pic>
      <p:sp>
        <p:nvSpPr>
          <p:cNvPr id="250" name="Google Shape;250;p42"/>
          <p:cNvSpPr txBox="1"/>
          <p:nvPr/>
        </p:nvSpPr>
        <p:spPr>
          <a:xfrm>
            <a:off x="493275" y="3733450"/>
            <a:ext cx="7135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The choice of sigma depends on desired behavior</a:t>
            </a:r>
            <a:endParaRPr/>
          </a:p>
          <a:p>
            <a:pPr indent="0" lvl="0" marL="0" rtl="0" algn="l">
              <a:spcBef>
                <a:spcPts val="0"/>
              </a:spcBef>
              <a:spcAft>
                <a:spcPts val="0"/>
              </a:spcAft>
              <a:buNone/>
            </a:pPr>
            <a:r>
              <a:rPr lang="en-GB"/>
              <a:t>– large sigma detects “</a:t>
            </a:r>
            <a:r>
              <a:rPr b="1" lang="en-GB"/>
              <a:t>large-scale</a:t>
            </a:r>
            <a:r>
              <a:rPr lang="en-GB"/>
              <a:t>” edges</a:t>
            </a:r>
            <a:endParaRPr/>
          </a:p>
          <a:p>
            <a:pPr indent="0" lvl="0" marL="0" rtl="0" algn="l">
              <a:spcBef>
                <a:spcPts val="0"/>
              </a:spcBef>
              <a:spcAft>
                <a:spcPts val="0"/>
              </a:spcAft>
              <a:buNone/>
            </a:pPr>
            <a:r>
              <a:rPr lang="en-GB"/>
              <a:t>– small sigma detects </a:t>
            </a:r>
            <a:r>
              <a:rPr b="1" lang="en-GB"/>
              <a:t>ﬁne edges</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