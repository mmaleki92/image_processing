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Comforta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Comfortaa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cfffc2ca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cfffc2ca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dcfffc2c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dcfffc2c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cfffc2ca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cfffc2ca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cfffc2ca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cfffc2ca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cfffc2ca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cfffc2ca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dcfffc2ca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dcfffc2ca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cfffc2cab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cfffc2cab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cfffc2ca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cfffc2ca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cfffc2ca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cfffc2ca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dcfffc2ca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dcfffc2ca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cfffc2ca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cfffc2ca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dcfffc2ca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dcfffc2ca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cfffc2cab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cfffc2ca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cfffc2cab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cfffc2ca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cfffc2cab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dcfffc2cab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cfffc2cab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cfffc2cab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dcfffc2cab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dcfffc2ca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cfffc2cab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cfffc2cab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cfffc2ca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dcfffc2ca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dcfffc2cab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dcfffc2cab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dcfffc2cab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dcfffc2cab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dcfffc2cab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dcfffc2cab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cfffc2cab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cfffc2cab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cfffc2cab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dcfffc2cab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dcfffc2cab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dcfffc2cab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cfffc2cab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cfffc2cab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cfffc2cab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cfffc2cab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dcfffc2cab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dcfffc2cab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cfffc2cab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dcfffc2cab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dcfffc2cab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dcfffc2cab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cfffc2cab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dcfffc2cab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dcfffc2cab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dcfffc2cab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dcfffc2cab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dcfffc2cab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dcfffc2cab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dcfffc2cab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dcfffc2cab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dcfffc2cab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cfffc2cab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cfffc2cab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dcfffc2cab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dcfffc2cab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7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Comfortaa"/>
                <a:ea typeface="Comfortaa"/>
                <a:cs typeface="Comfortaa"/>
                <a:sym typeface="Comfortaa"/>
              </a:rPr>
              <a:t>Lecture 1: Images and image filtering</a:t>
            </a:r>
            <a:endParaRPr sz="3300"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2175" y="3298875"/>
            <a:ext cx="3277236" cy="12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3525" y="2097925"/>
            <a:ext cx="4610100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006875" y="4312200"/>
            <a:ext cx="536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Hybrid Images, Oliva et al., http://olivalab.mit.edu/hybridimage.htm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What is an image?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025" y="1461225"/>
            <a:ext cx="2537700" cy="22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000" y="515850"/>
            <a:ext cx="1850850" cy="21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4775213" y="3409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We’ll focus on these in this class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63469">
            <a:off x="6008225" y="2766475"/>
            <a:ext cx="533975" cy="6674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894225" y="44589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A. Efros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What is an image?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175" y="1508425"/>
            <a:ext cx="2179525" cy="25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9625" y="1557971"/>
            <a:ext cx="2179525" cy="228730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3865325" y="2621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=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1130625" y="4297125"/>
            <a:ext cx="66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	(common to use one byte per value: 0 = black, 255 = white)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791450" y="981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grid (matrix) of intensity values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What is an image?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1575" y="1947425"/>
            <a:ext cx="19812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300" y="2056325"/>
            <a:ext cx="2860550" cy="24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700" y="2208725"/>
            <a:ext cx="2860550" cy="244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700" y="1509300"/>
            <a:ext cx="1352725" cy="16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664225" y="939850"/>
            <a:ext cx="61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digital image is a discrete (sampled, quantized) version of this function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551200" y="4692150"/>
            <a:ext cx="80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/>
              <a:t>A digital image is a discrete (sampled, quantized) version of this function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transformations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As with any function, we can apply operators to an image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120" y="2458320"/>
            <a:ext cx="2073175" cy="10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950" y="2418270"/>
            <a:ext cx="2226975" cy="11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 txBox="1"/>
          <p:nvPr/>
        </p:nvSpPr>
        <p:spPr>
          <a:xfrm>
            <a:off x="685450" y="3943075"/>
            <a:ext cx="692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Today we’ll talk about a special kind of operator, convolution (linear filtering)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Filters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Filtering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Form a new image whose pixel values are a combination of the original pixel values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Why?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To get useful information from images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E.g., extract edges or contours (to understand shape)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To enhance the image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E.g., to remove noise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E.g., to sharpen and “enhance image” a la CSI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A key operator in Convolutional Neural Networks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Canonical Image Processing problems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Image Restoration</a:t>
            </a:r>
            <a:endParaRPr b="1"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denoising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deblurring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Image Compression</a:t>
            </a:r>
            <a:endParaRPr b="1"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JPEG, HEIF, MPEG, …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Locating Structural Features</a:t>
            </a:r>
            <a:endParaRPr b="1"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corners</a:t>
            </a:r>
            <a:endParaRPr>
              <a:solidFill>
                <a:schemeClr val="dk1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-GB">
                <a:solidFill>
                  <a:schemeClr val="dk1"/>
                </a:solidFill>
              </a:rPr>
              <a:t>edges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Question: Noise reduction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Given a camera and a still scene, how can you reduce noise?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750" y="1950347"/>
            <a:ext cx="1564500" cy="20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425" y="2033985"/>
            <a:ext cx="1564500" cy="20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725" y="2201672"/>
            <a:ext cx="1564500" cy="20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311700" y="4324675"/>
            <a:ext cx="377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Take lots of images and average them!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395725" y="4703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What’s the next best thing?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filtering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Modify the pixels in an image based on some function of a local neighborhood of each pixel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913" y="2369988"/>
            <a:ext cx="12668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6838" y="2369988"/>
            <a:ext cx="13049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3138" y="2811350"/>
            <a:ext cx="777731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3837100" y="2371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function</a:t>
            </a:r>
            <a:endParaRPr/>
          </a:p>
        </p:txBody>
      </p:sp>
      <p:sp>
        <p:nvSpPr>
          <p:cNvPr id="135" name="Google Shape;135;p22"/>
          <p:cNvSpPr txBox="1"/>
          <p:nvPr/>
        </p:nvSpPr>
        <p:spPr>
          <a:xfrm>
            <a:off x="6275025" y="45688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L. Zhang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filtering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One simple version of filtering:  linear filtering (cross-correlation, convolution)</a:t>
            </a:r>
            <a:endParaRPr/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338" y="2312700"/>
            <a:ext cx="126682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0263" y="2312688"/>
            <a:ext cx="1285875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963" y="2312688"/>
            <a:ext cx="13049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586500" y="3978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image data</a:t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3530275" y="3914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kernel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6096975" y="3914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Modified image data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Cross-correlation</a:t>
            </a:r>
            <a:endParaRPr/>
          </a:p>
        </p:txBody>
      </p:sp>
      <p:sp>
        <p:nvSpPr>
          <p:cNvPr id="153" name="Google Shape;15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Let </a:t>
            </a:r>
            <a:r>
              <a:rPr b="1" lang="en-GB">
                <a:solidFill>
                  <a:srgbClr val="000000"/>
                </a:solidFill>
              </a:rPr>
              <a:t>F</a:t>
            </a:r>
            <a:r>
              <a:rPr lang="en-GB"/>
              <a:t> be the image, </a:t>
            </a:r>
            <a:r>
              <a:rPr b="1" lang="en-GB">
                <a:solidFill>
                  <a:srgbClr val="000000"/>
                </a:solidFill>
              </a:rPr>
              <a:t>H</a:t>
            </a:r>
            <a:r>
              <a:rPr b="1" lang="en-GB"/>
              <a:t>	</a:t>
            </a:r>
            <a:r>
              <a:rPr lang="en-GB"/>
              <a:t>be the kernel (of size 	2k+1 x 2k+1), and  </a:t>
            </a:r>
            <a:r>
              <a:rPr b="1" lang="en-GB">
                <a:solidFill>
                  <a:schemeClr val="dk1"/>
                </a:solidFill>
              </a:rPr>
              <a:t>G</a:t>
            </a:r>
            <a:r>
              <a:rPr lang="en-GB"/>
              <a:t>	be the output image</a:t>
            </a:r>
            <a:endParaRPr/>
          </a:p>
        </p:txBody>
      </p:sp>
      <p:pic>
        <p:nvPicPr>
          <p:cNvPr id="154" name="Google Shape;15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825" y="2069623"/>
            <a:ext cx="6821375" cy="10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7425" y="4078100"/>
            <a:ext cx="2497575" cy="3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4"/>
          <p:cNvSpPr txBox="1"/>
          <p:nvPr/>
        </p:nvSpPr>
        <p:spPr>
          <a:xfrm>
            <a:off x="210825" y="4624500"/>
            <a:ext cx="78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think of as a “dot product” between local neighborhood and kernel for each pixel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8075" y="353375"/>
            <a:ext cx="4443799" cy="4436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694875" y="3959650"/>
            <a:ext cx="30000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H_flipped</a:t>
            </a:r>
            <a:r>
              <a:rPr lang="en-GB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7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7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np.flipud(np.fliplr(H))  </a:t>
            </a:r>
            <a:r>
              <a:rPr lang="en-GB" sz="7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# Flip both vertically and horizontally</a:t>
            </a:r>
            <a:endParaRPr sz="7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825" y="1840077"/>
            <a:ext cx="5301200" cy="9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6"/>
          <p:cNvSpPr txBox="1"/>
          <p:nvPr/>
        </p:nvSpPr>
        <p:spPr>
          <a:xfrm>
            <a:off x="1748825" y="2912175"/>
            <a:ext cx="584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called a convolution operation:</a:t>
            </a:r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7175" y="3475025"/>
            <a:ext cx="1963400" cy="4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640200" y="960300"/>
            <a:ext cx="651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Same as cross-correlation, except that the kernel is “flipped” (horizontally and vertically)</a:t>
            </a:r>
            <a:endParaRPr/>
          </a:p>
        </p:txBody>
      </p:sp>
      <p:sp>
        <p:nvSpPr>
          <p:cNvPr id="171" name="Google Shape;171;p26"/>
          <p:cNvSpPr txBox="1"/>
          <p:nvPr/>
        </p:nvSpPr>
        <p:spPr>
          <a:xfrm>
            <a:off x="437200" y="3435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Convolution</a:t>
            </a:r>
            <a:endParaRPr b="1" sz="1900"/>
          </a:p>
        </p:txBody>
      </p:sp>
      <p:sp>
        <p:nvSpPr>
          <p:cNvPr id="172" name="Google Shape;172;p26"/>
          <p:cNvSpPr txBox="1"/>
          <p:nvPr/>
        </p:nvSpPr>
        <p:spPr>
          <a:xfrm>
            <a:off x="765125" y="4169150"/>
            <a:ext cx="788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Convolution is commutative and associative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385888"/>
            <a:ext cx="457200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625" y="1764476"/>
            <a:ext cx="5955324" cy="21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8"/>
          <p:cNvSpPr txBox="1"/>
          <p:nvPr/>
        </p:nvSpPr>
        <p:spPr>
          <a:xfrm>
            <a:off x="351325" y="242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Mean filtering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4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52400"/>
            <a:ext cx="877168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928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2444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6" cy="4597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62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/>
        </p:nvSpPr>
        <p:spPr>
          <a:xfrm>
            <a:off x="343525" y="702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Linear filters: examples</a:t>
            </a:r>
            <a:endParaRPr/>
          </a:p>
        </p:txBody>
      </p:sp>
      <p:pic>
        <p:nvPicPr>
          <p:cNvPr id="219" name="Google Shape;21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25" y="1200600"/>
            <a:ext cx="42481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1475" y="1331325"/>
            <a:ext cx="738187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925" y="1378175"/>
            <a:ext cx="424815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375" y="1706075"/>
            <a:ext cx="78200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8"/>
          <p:cNvSpPr txBox="1"/>
          <p:nvPr/>
        </p:nvSpPr>
        <p:spPr>
          <a:xfrm>
            <a:off x="1959650" y="4270650"/>
            <a:ext cx="662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each pixel in the output is </a:t>
            </a:r>
            <a:r>
              <a:rPr b="1" lang="en-GB" sz="1100">
                <a:solidFill>
                  <a:schemeClr val="dk1"/>
                </a:solidFill>
              </a:rPr>
              <a:t>replaced by the value of the pixel to its left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25" y="1370975"/>
            <a:ext cx="793432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63" y="1422626"/>
            <a:ext cx="7756475" cy="26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Sharpening</a:t>
            </a:r>
            <a:endParaRPr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038" y="904675"/>
            <a:ext cx="66539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Smoothing with box filter revisited</a:t>
            </a:r>
            <a:endParaRPr/>
          </a:p>
        </p:txBody>
      </p:sp>
      <p:pic>
        <p:nvPicPr>
          <p:cNvPr id="257" name="Google Shape;2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925" y="1709825"/>
            <a:ext cx="6109550" cy="268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2"/>
          <p:cNvSpPr txBox="1"/>
          <p:nvPr/>
        </p:nvSpPr>
        <p:spPr>
          <a:xfrm>
            <a:off x="5925800" y="46688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box blur</a:t>
            </a:r>
            <a:r>
              <a:rPr lang="en-GB" sz="1100">
                <a:solidFill>
                  <a:schemeClr val="dk1"/>
                </a:solidFill>
              </a:rPr>
              <a:t> (also known as a box linear filter)</a:t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0373" y="4379148"/>
            <a:ext cx="728650" cy="76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kernel</a:t>
            </a:r>
            <a:endParaRPr/>
          </a:p>
        </p:txBody>
      </p:sp>
      <p:pic>
        <p:nvPicPr>
          <p:cNvPr id="265" name="Google Shape;2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950" y="1107675"/>
            <a:ext cx="52578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1025" y="1770998"/>
            <a:ext cx="6561951" cy="23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4"/>
          <p:cNvSpPr txBox="1"/>
          <p:nvPr/>
        </p:nvSpPr>
        <p:spPr>
          <a:xfrm>
            <a:off x="554325" y="460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Gaussian filter</a:t>
            </a:r>
            <a:endParaRPr/>
          </a:p>
        </p:txBody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Removes “high-frequency” components from the image (low-pass filter)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Convolution with self is another Gaussian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050" y="2234000"/>
            <a:ext cx="586740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Sharpening revisited</a:t>
            </a:r>
            <a:endParaRPr/>
          </a:p>
        </p:txBody>
      </p:sp>
      <p:sp>
        <p:nvSpPr>
          <p:cNvPr id="284" name="Google Shape;284;p46"/>
          <p:cNvSpPr txBox="1"/>
          <p:nvPr/>
        </p:nvSpPr>
        <p:spPr>
          <a:xfrm>
            <a:off x="413800" y="1061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blurring take away?</a:t>
            </a:r>
            <a:endParaRPr/>
          </a:p>
        </p:txBody>
      </p:sp>
      <p:pic>
        <p:nvPicPr>
          <p:cNvPr id="285" name="Google Shape;28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8950" y="1462000"/>
            <a:ext cx="6336278" cy="3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6"/>
          <p:cNvSpPr txBox="1"/>
          <p:nvPr/>
        </p:nvSpPr>
        <p:spPr>
          <a:xfrm>
            <a:off x="1218900" y="4838700"/>
            <a:ext cx="792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 credit: https://www.flickr.com/photos/geezaweezer/16089096376/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“Optical” convolution</a:t>
            </a:r>
            <a:endParaRPr/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138" y="1547813"/>
            <a:ext cx="770572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7"/>
          <p:cNvSpPr txBox="1"/>
          <p:nvPr/>
        </p:nvSpPr>
        <p:spPr>
          <a:xfrm>
            <a:off x="719150" y="3903700"/>
            <a:ext cx="767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Fergus, et al. “Removing Camera Shake from a Single Photograph”, SIGGRAPH 2006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Filters: Thresholding</a:t>
            </a:r>
            <a:endParaRPr/>
          </a:p>
        </p:txBody>
      </p:sp>
      <p:pic>
        <p:nvPicPr>
          <p:cNvPr id="299" name="Google Shape;2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6496" y="1189700"/>
            <a:ext cx="4621251" cy="19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0700" y="3697600"/>
            <a:ext cx="37528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backup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Sharpen filter</a:t>
            </a:r>
            <a:endParaRPr/>
          </a:p>
        </p:txBody>
      </p:sp>
      <p:pic>
        <p:nvPicPr>
          <p:cNvPr id="311" name="Google Shape;31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150" y="1506801"/>
            <a:ext cx="7074150" cy="15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3925" y="2571745"/>
            <a:ext cx="4988601" cy="253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