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Comfortaa Light"/>
      <p:regular r:id="rId32"/>
      <p:bold r:id="rId33"/>
    </p:embeddedFont>
    <p:embeddedFont>
      <p:font typeface="Comforta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omfortaaLight-bold.fntdata"/><Relationship Id="rId10" Type="http://schemas.openxmlformats.org/officeDocument/2006/relationships/slide" Target="slides/slide5.xml"/><Relationship Id="rId32" Type="http://schemas.openxmlformats.org/officeDocument/2006/relationships/font" Target="fonts/ComfortaaLight-regular.fntdata"/><Relationship Id="rId13" Type="http://schemas.openxmlformats.org/officeDocument/2006/relationships/slide" Target="slides/slide8.xml"/><Relationship Id="rId35" Type="http://schemas.openxmlformats.org/officeDocument/2006/relationships/font" Target="fonts/Comfortaa-bold.fntdata"/><Relationship Id="rId12" Type="http://schemas.openxmlformats.org/officeDocument/2006/relationships/slide" Target="slides/slide7.xml"/><Relationship Id="rId34" Type="http://schemas.openxmlformats.org/officeDocument/2006/relationships/font" Target="fonts/Comforta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bd2a7a6e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bd2a7a6e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bd2a7a6e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bd2a7a6e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bd2a7a6e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bd2a7a6e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bd2a7a6e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bd2a7a6e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bd2a7a6e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bd2a7a6e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bd2a7a6e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bd2a7a6e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bd2a7a6e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bd2a7a6e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bd2a7a6e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bd2a7a6e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bd2a7a6e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bd2a7a6e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bd2a7a6e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bd2a7a6e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bd2a7a6e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bd2a7a6e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bd2a7a6e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bd2a7a6e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bd2a7a6e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bd2a7a6e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bd2a7a6e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bd2a7a6e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bd2a7a6e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bd2a7a6e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bd2a7a6e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bd2a7a6e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bd2a7a6e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bd2a7a6e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bd2a7a6e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3bd2a7a6e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bd2a7a6e2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3bd2a7a6e2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bd2a7a6e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bd2a7a6e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bd2a7a6e2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bd2a7a6e2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bd2a7a6e2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bd2a7a6e2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bd2a7a6e2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bd2a7a6e2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bd2a7a6e2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bd2a7a6e2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bd2a7a6e2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3bd2a7a6e2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45.png"/><Relationship Id="rId5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41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7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Computer Vision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Comfortaa Light"/>
                <a:ea typeface="Comfortaa Light"/>
                <a:cs typeface="Comfortaa Light"/>
                <a:sym typeface="Comfortaa Light"/>
              </a:rPr>
              <a:t>We are not worms!</a:t>
            </a:r>
            <a:endParaRPr sz="2100"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680000" y="4480150"/>
            <a:ext cx="57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Seeing: </a:t>
            </a:r>
            <a:r>
              <a:rPr b="1" lang="en-GB" sz="800">
                <a:solidFill>
                  <a:schemeClr val="dk2"/>
                </a:solidFill>
              </a:rPr>
              <a:t>Earthworms have no eyes</a:t>
            </a:r>
            <a:r>
              <a:rPr lang="en-GB" sz="800">
                <a:solidFill>
                  <a:schemeClr val="dk2"/>
                </a:solidFill>
              </a:rPr>
              <a:t>, but they do have light receptors and can tell when they are in the dark, or in the light.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6077150" y="46709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Ref: </a:t>
            </a:r>
            <a:r>
              <a:rPr lang="en-GB" sz="1100"/>
              <a:t>Cornell Tech </a:t>
            </a:r>
            <a:r>
              <a:rPr lang="en-GB" sz="1100"/>
              <a:t>Instructor: Noah Snavely</a:t>
            </a:r>
            <a:endParaRPr sz="11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350" y="626788"/>
            <a:ext cx="32385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163" y="2816813"/>
            <a:ext cx="27908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0888" y="2853087"/>
            <a:ext cx="3179763" cy="170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9250" y="152400"/>
            <a:ext cx="3874533" cy="254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13" y="904525"/>
            <a:ext cx="6583126" cy="326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25" y="3447775"/>
            <a:ext cx="1076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075" y="1681150"/>
            <a:ext cx="1371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48500" y="162525"/>
            <a:ext cx="89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Automatic 3D reconstruction from Internet photo collections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975175" y="374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City-scale 3D reconstruction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67450" y="4126800"/>
            <a:ext cx="65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Reconstruction of Dubrovnik, Croatia, from ~40,000 images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525" y="927125"/>
            <a:ext cx="4943044" cy="30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480525" y="325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Depth from a single image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75" y="1302725"/>
            <a:ext cx="7696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The goal of computer vision</a:t>
            </a: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1308053" y="310925"/>
            <a:ext cx="5553600" cy="43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Every image tells a story</a:t>
            </a:r>
            <a:endParaRPr sz="1900"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4706250" y="2000300"/>
            <a:ext cx="2967300" cy="14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Goal of computer vision: perceive the “story” behind the picture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Compute properties of the world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3D shape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 Names of people or objects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What happened?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450" y="964025"/>
            <a:ext cx="28003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450" y="964025"/>
            <a:ext cx="28003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975" y="1279610"/>
            <a:ext cx="3099200" cy="31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47" y="165775"/>
            <a:ext cx="3464399" cy="26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075" y="2921576"/>
            <a:ext cx="4720449" cy="199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5017175" y="106000"/>
            <a:ext cx="3695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Yes and 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humans are better at “hard” things, are more robust, and make inferences quickly and cheaply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But huge progress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Accelerating in the last 10 years due to deep learning, large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 vision-language models What is considered “hard” keeps changing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75" y="286650"/>
            <a:ext cx="3705900" cy="2826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125" y="3180390"/>
            <a:ext cx="4611884" cy="1725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ctrTitle"/>
          </p:nvPr>
        </p:nvSpPr>
        <p:spPr>
          <a:xfrm>
            <a:off x="537826" y="593600"/>
            <a:ext cx="7913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Current models still make very silly mistakes</a:t>
            </a:r>
            <a:endParaRPr sz="2500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975" y="1373800"/>
            <a:ext cx="7532075" cy="30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/>
        </p:nvSpPr>
        <p:spPr>
          <a:xfrm>
            <a:off x="1483950" y="374525"/>
            <a:ext cx="51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 perception has its shortcomings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950" y="877375"/>
            <a:ext cx="3288100" cy="32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1342650" y="43529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https://twitter.com/pickover/status/1460275132958662657/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240275" y="190800"/>
            <a:ext cx="727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 humans can tell a lot about a scene from a little information…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900" y="1128250"/>
            <a:ext cx="2716600" cy="2711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395900" y="3978400"/>
            <a:ext cx="292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“80 million tiny images” by Torralba, et al.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725" y="1534875"/>
            <a:ext cx="3091099" cy="2380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25" y="1664600"/>
            <a:ext cx="3804825" cy="214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7750" y="152400"/>
            <a:ext cx="37623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2125" y="3185650"/>
            <a:ext cx="40005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378525" y="706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the 3D shape of the world</a:t>
            </a:r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282675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The goal of computer vision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756125" y="1271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Forensics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400" y="1349700"/>
            <a:ext cx="1913475" cy="29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075" y="1938100"/>
            <a:ext cx="2017000" cy="17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174" y="2452075"/>
            <a:ext cx="4405575" cy="10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537050" y="332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 of computer vision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2967925" y="4430675"/>
            <a:ext cx="48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Nayar and Nishino, “Eyes for Relighting”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/>
        </p:nvSpPr>
        <p:spPr>
          <a:xfrm>
            <a:off x="84775" y="583575"/>
            <a:ext cx="527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Improve photos (“Computational Photography”)</a:t>
            </a:r>
            <a:endParaRPr sz="1000"/>
          </a:p>
        </p:txBody>
      </p:sp>
      <p:sp>
        <p:nvSpPr>
          <p:cNvPr id="163" name="Google Shape;163;p28"/>
          <p:cNvSpPr txBox="1"/>
          <p:nvPr/>
        </p:nvSpPr>
        <p:spPr>
          <a:xfrm>
            <a:off x="152400" y="226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The goal of computer vision</a:t>
            </a:r>
            <a:endParaRPr b="1"/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3">
            <a:alphaModFix/>
          </a:blip>
          <a:srcRect b="0" l="5299" r="-5299" t="0"/>
          <a:stretch/>
        </p:blipFill>
        <p:spPr>
          <a:xfrm>
            <a:off x="7069125" y="2033808"/>
            <a:ext cx="2400050" cy="3046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863" y="3620975"/>
            <a:ext cx="3050826" cy="1381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346225" y="46489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Low-light photography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(credit: Hasinoff et al., SIGGRAPH ASIA 2016)</a:t>
            </a:r>
            <a:endParaRPr sz="800"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464175"/>
            <a:ext cx="4181475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282650" y="31799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Super-resolution (source: 2d3)</a:t>
            </a:r>
            <a:endParaRPr sz="1000"/>
          </a:p>
        </p:txBody>
      </p:sp>
      <p:sp>
        <p:nvSpPr>
          <p:cNvPr id="169" name="Google Shape;169;p28"/>
          <p:cNvSpPr txBox="1"/>
          <p:nvPr/>
        </p:nvSpPr>
        <p:spPr>
          <a:xfrm>
            <a:off x="4522550" y="22508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Depth of field on cell phone camera (source: Google Research Blog)</a:t>
            </a:r>
            <a:endParaRPr sz="800"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2550" y="521825"/>
            <a:ext cx="2678267" cy="172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250" y="272525"/>
            <a:ext cx="4186375" cy="2242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075" y="2447986"/>
            <a:ext cx="3500058" cy="2323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5" y="1869550"/>
            <a:ext cx="83439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1074125" y="219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study computer vision?</a:t>
            </a:r>
            <a:endParaRPr/>
          </a:p>
        </p:txBody>
      </p:sp>
      <p:sp>
        <p:nvSpPr>
          <p:cNvPr id="183" name="Google Shape;183;p30"/>
          <p:cNvSpPr txBox="1"/>
          <p:nvPr/>
        </p:nvSpPr>
        <p:spPr>
          <a:xfrm>
            <a:off x="1074125" y="1158875"/>
            <a:ext cx="616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Billions of images/videos captured per day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/>
        </p:nvSpPr>
        <p:spPr>
          <a:xfrm>
            <a:off x="374525" y="367450"/>
            <a:ext cx="43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Optical character recognition (OCR)</a:t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25" y="934175"/>
            <a:ext cx="30003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0163" y="657175"/>
            <a:ext cx="2520475" cy="194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/>
        </p:nvSpPr>
        <p:spPr>
          <a:xfrm>
            <a:off x="5363450" y="26993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 plate readers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http://en.wikipedia.org/wiki/Automatic_number_plate_recognition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282675" y="29771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 recognition, AT&amp;T labs (1990’s)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/>
        </p:nvSpPr>
        <p:spPr>
          <a:xfrm>
            <a:off x="1738350" y="3062925"/>
            <a:ext cx="546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Nearly all cameras detect faces in real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(Why?)</a:t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225" y="203675"/>
            <a:ext cx="5443668" cy="275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475" y="649675"/>
            <a:ext cx="2985075" cy="22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5" y="2894200"/>
            <a:ext cx="2822626" cy="2116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2906325"/>
            <a:ext cx="2790299" cy="209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/>
        </p:nvSpPr>
        <p:spPr>
          <a:xfrm>
            <a:off x="-3850" y="13497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“How the Afghan Girl was Identified by Her Iris Patterns”  Read the story</a:t>
            </a:r>
            <a:endParaRPr/>
          </a:p>
        </p:txBody>
      </p:sp>
      <p:sp>
        <p:nvSpPr>
          <p:cNvPr id="207" name="Google Shape;207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Vision-based biometrics</a:t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66600" y="21199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The remarkable story of Sharbat Gula,</a:t>
            </a:r>
            <a:endParaRPr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00" y="569325"/>
            <a:ext cx="2381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>
            <a:off x="600650" y="3102175"/>
            <a:ext cx="53847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IrisCodes</a:t>
            </a:r>
            <a:r>
              <a:rPr lang="en-GB" sz="1100">
                <a:solidFill>
                  <a:schemeClr val="dk1"/>
                </a:solidFill>
              </a:rPr>
              <a:t>: These are binary codes that represent the unique patterns in a person's iris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Localization</a:t>
            </a:r>
            <a:r>
              <a:rPr lang="en-GB" sz="1100">
                <a:solidFill>
                  <a:schemeClr val="dk1"/>
                </a:solidFill>
              </a:rPr>
              <a:t>: Identifying the iris boundaries in an eye image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Normalization</a:t>
            </a:r>
            <a:r>
              <a:rPr lang="en-GB" sz="1100">
                <a:solidFill>
                  <a:schemeClr val="dk1"/>
                </a:solidFill>
              </a:rPr>
              <a:t>: Converting the circular iris into a rectangular form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Feature Extraction</a:t>
            </a:r>
            <a:r>
              <a:rPr lang="en-GB" sz="1100">
                <a:solidFill>
                  <a:schemeClr val="dk1"/>
                </a:solidFill>
              </a:rPr>
              <a:t>: Creating a binary code that represents the iris pattern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Matching</a:t>
            </a:r>
            <a:r>
              <a:rPr lang="en-GB" sz="1100">
                <a:solidFill>
                  <a:schemeClr val="dk1"/>
                </a:solidFill>
              </a:rPr>
              <a:t>: Comparing IrisCodes using Hamming Distance (a measure of dissimilarity)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25" y="781300"/>
            <a:ext cx="3239500" cy="2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5"/>
          <p:cNvSpPr txBox="1"/>
          <p:nvPr/>
        </p:nvSpPr>
        <p:spPr>
          <a:xfrm>
            <a:off x="4967725" y="32576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Face unlock on Apple iPhone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also http://www.sensiblevision.com/</a:t>
            </a:r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590525" y="33655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Fingerprint scanners on many new smartphones and other devices</a:t>
            </a:r>
            <a:endParaRPr/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500" y="754275"/>
            <a:ext cx="3791450" cy="25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050" y="795450"/>
            <a:ext cx="3720101" cy="372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ctrTitle"/>
          </p:nvPr>
        </p:nvSpPr>
        <p:spPr>
          <a:xfrm>
            <a:off x="191550" y="0"/>
            <a:ext cx="85206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/>
              <a:t>Why is computer vision difficult?</a:t>
            </a:r>
            <a:endParaRPr sz="3900"/>
          </a:p>
        </p:txBody>
      </p:sp>
      <p:pic>
        <p:nvPicPr>
          <p:cNvPr id="233" name="Google Shape;2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675" y="1440325"/>
            <a:ext cx="2267001" cy="33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7"/>
          <p:cNvSpPr txBox="1"/>
          <p:nvPr/>
        </p:nvSpPr>
        <p:spPr>
          <a:xfrm>
            <a:off x="6451675" y="4798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</a:t>
            </a:r>
            <a:endParaRPr/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912" y="2092608"/>
            <a:ext cx="1550563" cy="114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7547" y="1540475"/>
            <a:ext cx="1550563" cy="121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1300" y="1990224"/>
            <a:ext cx="1550563" cy="114498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7"/>
          <p:cNvSpPr txBox="1"/>
          <p:nvPr/>
        </p:nvSpPr>
        <p:spPr>
          <a:xfrm>
            <a:off x="2132993" y="3088629"/>
            <a:ext cx="203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Viewpoint variation</a:t>
            </a:r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6499" y="3611850"/>
            <a:ext cx="2717775" cy="13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/>
        </p:nvSpPr>
        <p:spPr>
          <a:xfrm>
            <a:off x="311700" y="307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computer vision difficult?</a:t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550" y="867075"/>
            <a:ext cx="6150075" cy="41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