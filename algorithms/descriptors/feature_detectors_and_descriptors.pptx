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Comfortaa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omfortaa-regular.fntdata"/><Relationship Id="rId47" Type="http://schemas.openxmlformats.org/officeDocument/2006/relationships/slide" Target="slides/slide42.xml"/><Relationship Id="rId49" Type="http://schemas.openxmlformats.org/officeDocument/2006/relationships/font" Target="fonts/Comforta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e415c5f0d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e415c5f0d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415c5f0d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e415c5f0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415c5f0d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415c5f0d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415c5f0d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415c5f0d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415c5f0d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415c5f0d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415c5f0d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e415c5f0d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415c5f0d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e415c5f0d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415c5f0d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415c5f0d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415c5f0d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e415c5f0d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e415c5f0d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e415c5f0d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415c5f0d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e415c5f0d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e415c5f0d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e415c5f0d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415c5f0d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415c5f0d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415c5f0d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e415c5f0d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415c5f0d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e415c5f0d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415c5f0d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e415c5f0d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415c5f0da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415c5f0d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e415c5f0da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e415c5f0da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e415c5f0da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e415c5f0d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e415c5f0da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e415c5f0da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e415c5f0da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e415c5f0da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e415c5f0da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e415c5f0da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e415c5f0da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e415c5f0da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e415c5f0da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e415c5f0da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e415c5f0da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e415c5f0da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415c5f0da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e415c5f0da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e415c5f0da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e415c5f0da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e415c5f0da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e415c5f0da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e415c5f0da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e415c5f0da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415c5f0da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e415c5f0da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e415c5f0da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e415c5f0da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e415c5f0da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e415c5f0da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e415c5f0da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e415c5f0da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e415c5f0da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e415c5f0da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e415c5f0da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e415c5f0da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e415c5f0da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e415c5f0da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e415c5f0da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e415c5f0da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e415c5f0da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e415c5f0da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e415c5f0da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e415c5f0da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e415c5f0da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e415c5f0da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e415c5f0da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e415c5f0da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Relationship Id="rId4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250" y="308188"/>
            <a:ext cx="7091500" cy="42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1026250" y="2155275"/>
            <a:ext cx="7091400" cy="68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2112875"/>
            <a:ext cx="8520600" cy="68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Comfortaa"/>
                <a:ea typeface="Comfortaa"/>
                <a:cs typeface="Comfortaa"/>
                <a:sym typeface="Comfortaa"/>
              </a:rPr>
              <a:t>Feature detectors and descriptors</a:t>
            </a:r>
            <a:endParaRPr sz="30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173050" y="4557875"/>
            <a:ext cx="599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Slides are </a:t>
            </a:r>
            <a:r>
              <a:rPr lang="en-GB" sz="900"/>
              <a:t>adopted</a:t>
            </a:r>
            <a:r>
              <a:rPr lang="en-GB" sz="900"/>
              <a:t> from : </a:t>
            </a:r>
            <a:r>
              <a:rPr lang="en-GB" sz="900"/>
              <a:t>16-385 Computer Vision Spring 2020, Lecture 6</a:t>
            </a:r>
            <a:br>
              <a:rPr lang="en-GB" sz="900"/>
            </a:br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688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520"/>
              <a:t>Why do we need feature descriptors?</a:t>
            </a:r>
            <a:endParaRPr sz="25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500" y="1227301"/>
            <a:ext cx="6993400" cy="268889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1427425" y="3978425"/>
            <a:ext cx="642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we know where the good features are,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we match them?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 instance recognition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2500" y="1017725"/>
            <a:ext cx="634749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54075" y="367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mosaicing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3040" l="-1920" r="1919" t="-3040"/>
          <a:stretch/>
        </p:blipFill>
        <p:spPr>
          <a:xfrm>
            <a:off x="2385472" y="908101"/>
            <a:ext cx="3936376" cy="14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0038" y="2390950"/>
            <a:ext cx="3992875" cy="111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0050" y="3724025"/>
            <a:ext cx="4007235" cy="111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963" y="1389025"/>
            <a:ext cx="3648075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we describe an image patch?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66"/>
              <a:t>Patches with similar content should have similar descriptors</a:t>
            </a:r>
            <a:endParaRPr sz="2466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149175" y="2169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Designing feature descriptors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Photometric transformations</a:t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3519" y="1639575"/>
            <a:ext cx="2069405" cy="20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294" y="1639574"/>
            <a:ext cx="2069405" cy="20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1074" y="1639575"/>
            <a:ext cx="2069405" cy="20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Geometric transformations</a:t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950" y="1297300"/>
            <a:ext cx="167640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8450" y="1197288"/>
            <a:ext cx="3057525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1130625" y="4006675"/>
            <a:ext cx="744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objects will appear at different scales</a:t>
            </a:r>
            <a:r>
              <a:rPr lang="en-GB"/>
              <a:t>, </a:t>
            </a:r>
            <a:r>
              <a:rPr lang="en-GB"/>
              <a:t>translation and rotation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7650" y="223050"/>
            <a:ext cx="36576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 txBox="1"/>
          <p:nvPr/>
        </p:nvSpPr>
        <p:spPr>
          <a:xfrm>
            <a:off x="2381400" y="2339000"/>
            <a:ext cx="598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best descriptor for an image feature?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2413" y="2877450"/>
            <a:ext cx="3648075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patch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Just use the pixel values of the patch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9425" y="1780329"/>
            <a:ext cx="5542324" cy="12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/>
        </p:nvSpPr>
        <p:spPr>
          <a:xfrm>
            <a:off x="586525" y="3328300"/>
            <a:ext cx="741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Perfectly fine if geometry and appearance is unchanged</a:t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3109225" y="3681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(a.k.a. template matching)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Tiny Images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451" y="1314325"/>
            <a:ext cx="4772127" cy="31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Just down-sample it!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Simple, fast, robust to small affine transforms.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500" y="1676700"/>
            <a:ext cx="4709326" cy="313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patch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Just use the pixel values of the patch</a:t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9425" y="1780329"/>
            <a:ext cx="5542324" cy="12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586525" y="3328300"/>
            <a:ext cx="741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Perfectly fine if geometry and appearance is unchanged</a:t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3109225" y="3681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(a.k.a. template matching)</a:t>
            </a:r>
            <a:endParaRPr/>
          </a:p>
        </p:txBody>
      </p:sp>
      <p:sp>
        <p:nvSpPr>
          <p:cNvPr id="147" name="Google Shape;147;p26"/>
          <p:cNvSpPr txBox="1"/>
          <p:nvPr/>
        </p:nvSpPr>
        <p:spPr>
          <a:xfrm>
            <a:off x="3071988" y="4324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</a:rPr>
              <a:t>What are the problems?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patch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Just use the pixel values of the patch</a:t>
            </a: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9425" y="1780329"/>
            <a:ext cx="5542324" cy="12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7"/>
          <p:cNvSpPr txBox="1"/>
          <p:nvPr/>
        </p:nvSpPr>
        <p:spPr>
          <a:xfrm>
            <a:off x="586525" y="3328300"/>
            <a:ext cx="741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Perfectly fine if geometry and appearance is unchanged</a:t>
            </a:r>
            <a:endParaRPr/>
          </a:p>
        </p:txBody>
      </p:sp>
      <p:sp>
        <p:nvSpPr>
          <p:cNvPr id="156" name="Google Shape;156;p27"/>
          <p:cNvSpPr txBox="1"/>
          <p:nvPr/>
        </p:nvSpPr>
        <p:spPr>
          <a:xfrm>
            <a:off x="3109225" y="3681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(a.k.a. template matching)</a:t>
            </a:r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3071988" y="4324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</a:rPr>
              <a:t>What are the problems?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1582948" y="4654175"/>
            <a:ext cx="59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</a:rPr>
              <a:t>How can you be less sensitive to absolute intensity values?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gradients</a:t>
            </a:r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075" y="1796527"/>
            <a:ext cx="5352374" cy="14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8"/>
          <p:cNvSpPr txBox="1"/>
          <p:nvPr/>
        </p:nvSpPr>
        <p:spPr>
          <a:xfrm>
            <a:off x="515850" y="1264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pixel differences</a:t>
            </a:r>
            <a:endParaRPr/>
          </a:p>
        </p:txBody>
      </p:sp>
      <p:sp>
        <p:nvSpPr>
          <p:cNvPr id="166" name="Google Shape;166;p28"/>
          <p:cNvSpPr txBox="1"/>
          <p:nvPr/>
        </p:nvSpPr>
        <p:spPr>
          <a:xfrm>
            <a:off x="2847775" y="3441375"/>
            <a:ext cx="54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is invariant to absolute intensity values</a:t>
            </a:r>
            <a:endParaRPr/>
          </a:p>
        </p:txBody>
      </p:sp>
      <p:sp>
        <p:nvSpPr>
          <p:cNvPr id="167" name="Google Shape;167;p28"/>
          <p:cNvSpPr txBox="1"/>
          <p:nvPr/>
        </p:nvSpPr>
        <p:spPr>
          <a:xfrm>
            <a:off x="3307100" y="43600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the problems?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gradients</a:t>
            </a:r>
            <a:endParaRPr/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075" y="1796527"/>
            <a:ext cx="5352374" cy="14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9"/>
          <p:cNvSpPr txBox="1"/>
          <p:nvPr/>
        </p:nvSpPr>
        <p:spPr>
          <a:xfrm>
            <a:off x="515850" y="1264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pixel differences</a:t>
            </a:r>
            <a:endParaRPr/>
          </a:p>
        </p:txBody>
      </p:sp>
      <p:sp>
        <p:nvSpPr>
          <p:cNvPr id="175" name="Google Shape;175;p29"/>
          <p:cNvSpPr txBox="1"/>
          <p:nvPr/>
        </p:nvSpPr>
        <p:spPr>
          <a:xfrm>
            <a:off x="2847775" y="3441375"/>
            <a:ext cx="54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is invariant to absolute intensity values</a:t>
            </a:r>
            <a:endParaRPr/>
          </a:p>
        </p:txBody>
      </p:sp>
      <p:sp>
        <p:nvSpPr>
          <p:cNvPr id="176" name="Google Shape;176;p29"/>
          <p:cNvSpPr txBox="1"/>
          <p:nvPr/>
        </p:nvSpPr>
        <p:spPr>
          <a:xfrm>
            <a:off x="3307100" y="4360000"/>
            <a:ext cx="4529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the problems?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How can you be less sensitive to deformations?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Color histogram</a:t>
            </a:r>
            <a:endParaRPr/>
          </a:p>
        </p:txBody>
      </p:sp>
      <p:sp>
        <p:nvSpPr>
          <p:cNvPr id="182" name="Google Shape;18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Count the colors in the image using a histogram</a:t>
            </a:r>
            <a:endParaRPr/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875" y="1723177"/>
            <a:ext cx="6600274" cy="1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/>
        </p:nvSpPr>
        <p:spPr>
          <a:xfrm>
            <a:off x="2656825" y="3285400"/>
            <a:ext cx="474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Invariant to changes in scale and rotation</a:t>
            </a:r>
            <a:endParaRPr/>
          </a:p>
        </p:txBody>
      </p:sp>
      <p:sp>
        <p:nvSpPr>
          <p:cNvPr id="185" name="Google Shape;185;p30"/>
          <p:cNvSpPr txBox="1"/>
          <p:nvPr/>
        </p:nvSpPr>
        <p:spPr>
          <a:xfrm>
            <a:off x="2970900" y="4311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the problems?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Color histogram</a:t>
            </a:r>
            <a:endParaRPr/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Count the colors in the image using a histogram</a:t>
            </a:r>
            <a:endParaRPr/>
          </a:p>
        </p:txBody>
      </p:sp>
      <p:sp>
        <p:nvSpPr>
          <p:cNvPr id="192" name="Google Shape;192;p31"/>
          <p:cNvSpPr txBox="1"/>
          <p:nvPr/>
        </p:nvSpPr>
        <p:spPr>
          <a:xfrm>
            <a:off x="2656825" y="3285400"/>
            <a:ext cx="474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Invariant to changes in scale and rotation</a:t>
            </a:r>
            <a:endParaRPr/>
          </a:p>
        </p:txBody>
      </p:sp>
      <p:sp>
        <p:nvSpPr>
          <p:cNvPr id="193" name="Google Shape;193;p31"/>
          <p:cNvSpPr txBox="1"/>
          <p:nvPr/>
        </p:nvSpPr>
        <p:spPr>
          <a:xfrm>
            <a:off x="2970900" y="4311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the problems?</a:t>
            </a:r>
            <a:endParaRPr/>
          </a:p>
        </p:txBody>
      </p:sp>
      <p:pic>
        <p:nvPicPr>
          <p:cNvPr id="194" name="Google Shape;1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50" y="1664150"/>
            <a:ext cx="6995424" cy="16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Color histogram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Count the colors in the image using a histogram</a:t>
            </a:r>
            <a:endParaRPr/>
          </a:p>
        </p:txBody>
      </p:sp>
      <p:sp>
        <p:nvSpPr>
          <p:cNvPr id="201" name="Google Shape;201;p32"/>
          <p:cNvSpPr txBox="1"/>
          <p:nvPr/>
        </p:nvSpPr>
        <p:spPr>
          <a:xfrm>
            <a:off x="2656825" y="3285400"/>
            <a:ext cx="474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Invariant to changes in scale and rotation</a:t>
            </a:r>
            <a:endParaRPr/>
          </a:p>
        </p:txBody>
      </p:sp>
      <p:sp>
        <p:nvSpPr>
          <p:cNvPr id="202" name="Google Shape;202;p32"/>
          <p:cNvSpPr txBox="1"/>
          <p:nvPr/>
        </p:nvSpPr>
        <p:spPr>
          <a:xfrm>
            <a:off x="2970900" y="43115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the problems?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can you be more sensitive to spatial layout?</a:t>
            </a:r>
            <a:endParaRPr/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125" y="1742701"/>
            <a:ext cx="6511175" cy="14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Spatial histograms</a:t>
            </a:r>
            <a:endParaRPr/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Compute histograms over spatial ‘cells’</a:t>
            </a:r>
            <a:endParaRPr/>
          </a:p>
        </p:txBody>
      </p:sp>
      <p:pic>
        <p:nvPicPr>
          <p:cNvPr id="210" name="Google Shape;21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725" y="1660572"/>
            <a:ext cx="5955151" cy="172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3"/>
          <p:cNvSpPr txBox="1"/>
          <p:nvPr/>
        </p:nvSpPr>
        <p:spPr>
          <a:xfrm>
            <a:off x="3952500" y="33852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Retains rough spatial layout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invariance to deformations</a:t>
            </a:r>
            <a:endParaRPr/>
          </a:p>
        </p:txBody>
      </p:sp>
      <p:sp>
        <p:nvSpPr>
          <p:cNvPr id="212" name="Google Shape;212;p33"/>
          <p:cNvSpPr txBox="1"/>
          <p:nvPr/>
        </p:nvSpPr>
        <p:spPr>
          <a:xfrm>
            <a:off x="2702625" y="4266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the problems?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Spatial histograms</a:t>
            </a:r>
            <a:endParaRPr/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Compute histograms over spatial ‘cells’</a:t>
            </a:r>
            <a:endParaRPr/>
          </a:p>
        </p:txBody>
      </p:sp>
      <p:pic>
        <p:nvPicPr>
          <p:cNvPr id="219" name="Google Shape;2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725" y="1660572"/>
            <a:ext cx="5955151" cy="172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4"/>
          <p:cNvSpPr txBox="1"/>
          <p:nvPr/>
        </p:nvSpPr>
        <p:spPr>
          <a:xfrm>
            <a:off x="3952500" y="33852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Retains rough spatial layout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invariance to deformations</a:t>
            </a:r>
            <a:endParaRPr/>
          </a:p>
        </p:txBody>
      </p:sp>
      <p:sp>
        <p:nvSpPr>
          <p:cNvPr id="221" name="Google Shape;221;p34"/>
          <p:cNvSpPr txBox="1"/>
          <p:nvPr/>
        </p:nvSpPr>
        <p:spPr>
          <a:xfrm>
            <a:off x="2702625" y="42666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the problems?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can you be completely invariant to rotation?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Orientation normalization</a:t>
            </a:r>
            <a:endParaRPr/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Use the dominant image gradient direction to normalize the orientation of the patch</a:t>
            </a:r>
            <a:endParaRPr/>
          </a:p>
        </p:txBody>
      </p:sp>
      <p:pic>
        <p:nvPicPr>
          <p:cNvPr id="228" name="Google Shape;2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800" y="1654823"/>
            <a:ext cx="5213600" cy="198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5"/>
          <p:cNvSpPr txBox="1"/>
          <p:nvPr/>
        </p:nvSpPr>
        <p:spPr>
          <a:xfrm>
            <a:off x="2826950" y="4096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the problems?</a:t>
            </a:r>
            <a:endParaRPr/>
          </a:p>
        </p:txBody>
      </p:sp>
      <p:sp>
        <p:nvSpPr>
          <p:cNvPr id="230" name="Google Shape;230;p35"/>
          <p:cNvSpPr txBox="1"/>
          <p:nvPr/>
        </p:nvSpPr>
        <p:spPr>
          <a:xfrm>
            <a:off x="7090800" y="3972125"/>
            <a:ext cx="1741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2"/>
                </a:solidFill>
              </a:rPr>
              <a:t>s:</a:t>
            </a:r>
            <a:r>
              <a:rPr lang="en-GB" sz="800">
                <a:solidFill>
                  <a:schemeClr val="dk2"/>
                </a:solidFill>
              </a:rPr>
              <a:t> represents the spatial extent or size of the patch around the keypoint. It determines how large a region of the image is used for feature analysis.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MOPS descriptor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Multi-Scale Oriented Patches (MOPS)</a:t>
            </a:r>
            <a:endParaRPr/>
          </a:p>
        </p:txBody>
      </p:sp>
      <p:sp>
        <p:nvSpPr>
          <p:cNvPr id="241" name="Google Shape;241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/>
              <a:t>Multi-Image Matching using Multi-Scale Oriented Patches. M. Brown, R. Szeliski and S. Winder. International Conference on Computer Vision and Pattern Recognition (CVPR2005). pages 510-517</a:t>
            </a:r>
            <a:endParaRPr sz="1200"/>
          </a:p>
        </p:txBody>
      </p:sp>
      <p:pic>
        <p:nvPicPr>
          <p:cNvPr id="242" name="Google Shape;24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925" y="1694870"/>
            <a:ext cx="4572000" cy="19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550" y="3815675"/>
            <a:ext cx="7119750" cy="12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Multi-Scale Oriented Patches (MOPS)</a:t>
            </a:r>
            <a:endParaRPr/>
          </a:p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311700" y="988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800"/>
              <a:t>Multi-Image Matching using Multi-Scale Oriented Patches. M. Brown, R. Szeliski and S. Winder. International Conference on Computer Vision and Pattern Recognition (</a:t>
            </a:r>
            <a:r>
              <a:rPr lang="en-GB" sz="800"/>
              <a:t>CVPR 2005</a:t>
            </a:r>
            <a:r>
              <a:rPr lang="en-GB" sz="800"/>
              <a:t>). pages 510-517</a:t>
            </a:r>
            <a:endParaRPr sz="800"/>
          </a:p>
        </p:txBody>
      </p:sp>
      <p:sp>
        <p:nvSpPr>
          <p:cNvPr id="250" name="Google Shape;250;p38"/>
          <p:cNvSpPr txBox="1"/>
          <p:nvPr/>
        </p:nvSpPr>
        <p:spPr>
          <a:xfrm>
            <a:off x="209400" y="1850175"/>
            <a:ext cx="50847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Given a feature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Get 40 x 40 image patch, subsample every 5th pixel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-"/>
            </a:pPr>
            <a:r>
              <a:rPr lang="en-GB" sz="1200">
                <a:solidFill>
                  <a:schemeClr val="accent1"/>
                </a:solidFill>
              </a:rPr>
              <a:t>(what’s the purpose of this step?)</a:t>
            </a:r>
            <a:endParaRPr sz="12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Subtract the mean, divide by standard deviation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-"/>
            </a:pPr>
            <a:r>
              <a:rPr lang="en-GB" sz="1200">
                <a:solidFill>
                  <a:schemeClr val="accent1"/>
                </a:solidFill>
              </a:rPr>
              <a:t>(what’s the purpose of this step?)</a:t>
            </a:r>
            <a:endParaRPr sz="12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Haar Wavelet Transform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-"/>
            </a:pPr>
            <a:r>
              <a:rPr lang="en-GB" sz="1300">
                <a:solidFill>
                  <a:schemeClr val="accent1"/>
                </a:solidFill>
              </a:rPr>
              <a:t>(what’s the purpose of this step?)</a:t>
            </a:r>
            <a:endParaRPr sz="1300">
              <a:solidFill>
                <a:schemeClr val="accent1"/>
              </a:solidFill>
            </a:endParaRPr>
          </a:p>
        </p:txBody>
      </p:sp>
      <p:pic>
        <p:nvPicPr>
          <p:cNvPr id="251" name="Google Shape;25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0000" y="1498550"/>
            <a:ext cx="1263200" cy="126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9425" y="1953325"/>
            <a:ext cx="861900" cy="2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Multi-Scale Oriented Patches (MOPS)</a:t>
            </a:r>
            <a:endParaRPr/>
          </a:p>
        </p:txBody>
      </p:sp>
      <p:sp>
        <p:nvSpPr>
          <p:cNvPr id="258" name="Google Shape;258;p39"/>
          <p:cNvSpPr txBox="1"/>
          <p:nvPr>
            <p:ph idx="1" type="body"/>
          </p:nvPr>
        </p:nvSpPr>
        <p:spPr>
          <a:xfrm>
            <a:off x="311700" y="988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800"/>
              <a:t>Multi-Image Matching using Multi-Scale Oriented Patches. M. Brown, R. Szeliski and S. Winder. International Conference on Computer Vision and Pattern Recognition (CVPR 2005). pages 510-517</a:t>
            </a:r>
            <a:endParaRPr sz="800"/>
          </a:p>
        </p:txBody>
      </p:sp>
      <p:sp>
        <p:nvSpPr>
          <p:cNvPr id="259" name="Google Shape;259;p39"/>
          <p:cNvSpPr txBox="1"/>
          <p:nvPr/>
        </p:nvSpPr>
        <p:spPr>
          <a:xfrm>
            <a:off x="209400" y="1850175"/>
            <a:ext cx="50847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Given a feature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Get 40 x 40 image patch, subsample every 5th pixel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-"/>
            </a:pPr>
            <a:r>
              <a:rPr lang="en-GB" sz="1200">
                <a:solidFill>
                  <a:schemeClr val="accent1"/>
                </a:solidFill>
              </a:rPr>
              <a:t>(low frequency filtering, absorbs localization errors)</a:t>
            </a:r>
            <a:endParaRPr sz="12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Subtract the mean, divide by standard deviation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-"/>
            </a:pPr>
            <a:r>
              <a:rPr lang="en-GB" sz="1200">
                <a:solidFill>
                  <a:schemeClr val="accent1"/>
                </a:solidFill>
              </a:rPr>
              <a:t>(what’s the purpose of this step?)</a:t>
            </a:r>
            <a:endParaRPr sz="12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Haar Wavelet Transform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-"/>
            </a:pPr>
            <a:r>
              <a:rPr lang="en-GB" sz="1300">
                <a:solidFill>
                  <a:schemeClr val="accent1"/>
                </a:solidFill>
              </a:rPr>
              <a:t>(what’s the purpose of this step?)</a:t>
            </a:r>
            <a:endParaRPr sz="1300">
              <a:solidFill>
                <a:schemeClr val="accent1"/>
              </a:solidFill>
            </a:endParaRPr>
          </a:p>
        </p:txBody>
      </p:sp>
      <p:pic>
        <p:nvPicPr>
          <p:cNvPr id="260" name="Google Shape;26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0000" y="1498550"/>
            <a:ext cx="1263200" cy="126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9425" y="1953325"/>
            <a:ext cx="861900" cy="22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0000" y="2853125"/>
            <a:ext cx="1263200" cy="1266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Multi-Scale Oriented Patches (MOPS)</a:t>
            </a:r>
            <a:endParaRPr/>
          </a:p>
        </p:txBody>
      </p:sp>
      <p:sp>
        <p:nvSpPr>
          <p:cNvPr id="268" name="Google Shape;268;p40"/>
          <p:cNvSpPr txBox="1"/>
          <p:nvPr>
            <p:ph idx="1" type="body"/>
          </p:nvPr>
        </p:nvSpPr>
        <p:spPr>
          <a:xfrm>
            <a:off x="311700" y="988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800"/>
              <a:t>Multi-Image Matching using Multi-Scale Oriented Patches. M. Brown, R. Szeliski and S. Winder. International Conference on Computer Vision and Pattern Recognition (CVPR 2005). pages 510-517</a:t>
            </a:r>
            <a:endParaRPr sz="800"/>
          </a:p>
        </p:txBody>
      </p:sp>
      <p:sp>
        <p:nvSpPr>
          <p:cNvPr id="269" name="Google Shape;269;p40"/>
          <p:cNvSpPr txBox="1"/>
          <p:nvPr/>
        </p:nvSpPr>
        <p:spPr>
          <a:xfrm>
            <a:off x="209400" y="1850175"/>
            <a:ext cx="50847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Given a feature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Get 40 x 40 image patch, subsample every 5th pixel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-"/>
            </a:pPr>
            <a:r>
              <a:rPr lang="en-GB" sz="1200">
                <a:solidFill>
                  <a:schemeClr val="accent1"/>
                </a:solidFill>
              </a:rPr>
              <a:t>(low frequency filtering, absorbs localization errors)</a:t>
            </a:r>
            <a:endParaRPr sz="12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Subtract the mean, divide by standard deviation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-"/>
            </a:pPr>
            <a:r>
              <a:rPr lang="en-GB" sz="1200">
                <a:solidFill>
                  <a:schemeClr val="accent1"/>
                </a:solidFill>
              </a:rPr>
              <a:t>(removes bias and gain)</a:t>
            </a:r>
            <a:endParaRPr sz="12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Haar Wavelet Transform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-"/>
            </a:pPr>
            <a:r>
              <a:rPr lang="en-GB" sz="1300">
                <a:solidFill>
                  <a:schemeClr val="accent1"/>
                </a:solidFill>
              </a:rPr>
              <a:t>(what’s the purpose of this step?)</a:t>
            </a:r>
            <a:endParaRPr sz="1300">
              <a:solidFill>
                <a:schemeClr val="accent1"/>
              </a:solidFill>
            </a:endParaRPr>
          </a:p>
        </p:txBody>
      </p:sp>
      <p:pic>
        <p:nvPicPr>
          <p:cNvPr id="270" name="Google Shape;27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0000" y="1498550"/>
            <a:ext cx="1263200" cy="126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9425" y="1953325"/>
            <a:ext cx="861900" cy="22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0000" y="2853125"/>
            <a:ext cx="1263200" cy="1266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6950" y="4210847"/>
            <a:ext cx="1722275" cy="88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Multi-Scale Oriented Patches (MOPS)</a:t>
            </a:r>
            <a:endParaRPr/>
          </a:p>
        </p:txBody>
      </p:sp>
      <p:sp>
        <p:nvSpPr>
          <p:cNvPr id="279" name="Google Shape;279;p41"/>
          <p:cNvSpPr txBox="1"/>
          <p:nvPr>
            <p:ph idx="1" type="body"/>
          </p:nvPr>
        </p:nvSpPr>
        <p:spPr>
          <a:xfrm>
            <a:off x="311700" y="988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800"/>
              <a:t>Multi-Image Matching using Multi-Scale Oriented Patches. M. Brown, R. Szeliski and S. Winder. International Conference on Computer Vision and Pattern Recognition (CVPR 2005). pages 510-517</a:t>
            </a:r>
            <a:endParaRPr sz="800"/>
          </a:p>
        </p:txBody>
      </p:sp>
      <p:sp>
        <p:nvSpPr>
          <p:cNvPr id="280" name="Google Shape;280;p41"/>
          <p:cNvSpPr txBox="1"/>
          <p:nvPr/>
        </p:nvSpPr>
        <p:spPr>
          <a:xfrm>
            <a:off x="209400" y="1850175"/>
            <a:ext cx="50847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Given a feature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Get 40 x 40 image patch, subsample every 5th pixel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-"/>
            </a:pPr>
            <a:r>
              <a:rPr lang="en-GB" sz="1200">
                <a:solidFill>
                  <a:schemeClr val="accent1"/>
                </a:solidFill>
              </a:rPr>
              <a:t>(low frequency filtering, absorbs localization errors)</a:t>
            </a:r>
            <a:endParaRPr sz="12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Subtract the mean, divide by standard deviation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-"/>
            </a:pPr>
            <a:r>
              <a:rPr lang="en-GB" sz="1200">
                <a:solidFill>
                  <a:schemeClr val="accent1"/>
                </a:solidFill>
              </a:rPr>
              <a:t>(removes bias and gain)</a:t>
            </a:r>
            <a:endParaRPr sz="12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Haar Wavelet Transform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-"/>
            </a:pPr>
            <a:r>
              <a:rPr lang="en-GB" sz="1300">
                <a:solidFill>
                  <a:schemeClr val="accent1"/>
                </a:solidFill>
              </a:rPr>
              <a:t>(low frequency projection)</a:t>
            </a:r>
            <a:endParaRPr sz="1300">
              <a:solidFill>
                <a:schemeClr val="accent1"/>
              </a:solidFill>
            </a:endParaRPr>
          </a:p>
        </p:txBody>
      </p:sp>
      <p:pic>
        <p:nvPicPr>
          <p:cNvPr id="281" name="Google Shape;28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0000" y="1498550"/>
            <a:ext cx="1263200" cy="126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9425" y="1953325"/>
            <a:ext cx="861900" cy="22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0000" y="2853125"/>
            <a:ext cx="1263200" cy="1266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6950" y="4210847"/>
            <a:ext cx="1722275" cy="88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Haar Wavelets</a:t>
            </a:r>
            <a:endParaRPr/>
          </a:p>
        </p:txBody>
      </p:sp>
      <p:sp>
        <p:nvSpPr>
          <p:cNvPr id="290" name="Google Shape;290;p42"/>
          <p:cNvSpPr txBox="1"/>
          <p:nvPr>
            <p:ph idx="1" type="body"/>
          </p:nvPr>
        </p:nvSpPr>
        <p:spPr>
          <a:xfrm>
            <a:off x="311700" y="988875"/>
            <a:ext cx="20244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800"/>
              <a:t>(actually, Haar-like features)</a:t>
            </a:r>
            <a:endParaRPr sz="800"/>
          </a:p>
        </p:txBody>
      </p:sp>
      <p:pic>
        <p:nvPicPr>
          <p:cNvPr id="291" name="Google Shape;29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8182" y="1630450"/>
            <a:ext cx="3710924" cy="247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2"/>
          <p:cNvSpPr txBox="1"/>
          <p:nvPr/>
        </p:nvSpPr>
        <p:spPr>
          <a:xfrm>
            <a:off x="975050" y="4142275"/>
            <a:ext cx="67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will see later in class how to compute Haar wavelet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responses efficiently (in constant time) with integral images</a:t>
            </a:r>
            <a:endParaRPr/>
          </a:p>
        </p:txBody>
      </p:sp>
      <p:sp>
        <p:nvSpPr>
          <p:cNvPr id="293" name="Google Shape;293;p42"/>
          <p:cNvSpPr txBox="1"/>
          <p:nvPr/>
        </p:nvSpPr>
        <p:spPr>
          <a:xfrm>
            <a:off x="405700" y="1230250"/>
            <a:ext cx="58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responses of a bank of filters as a descriptor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type="title"/>
          </p:nvPr>
        </p:nvSpPr>
        <p:spPr>
          <a:xfrm>
            <a:off x="2988150" y="2100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GIST descriptor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GIST</a:t>
            </a:r>
            <a:endParaRPr/>
          </a:p>
        </p:txBody>
      </p:sp>
      <p:sp>
        <p:nvSpPr>
          <p:cNvPr id="304" name="Google Shape;304;p44"/>
          <p:cNvSpPr txBox="1"/>
          <p:nvPr>
            <p:ph idx="1" type="body"/>
          </p:nvPr>
        </p:nvSpPr>
        <p:spPr>
          <a:xfrm>
            <a:off x="311700" y="1152475"/>
            <a:ext cx="345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1. Compute filter responses (filter bank of Gabor filters)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2. Divide image patch into 4 x 4 cells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3. Compute filter response averages for each cell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/>
              <a:t>4. Size of descriptor is 4 x 4 x N, where N is the size of the filter bank</a:t>
            </a:r>
            <a:endParaRPr sz="1400"/>
          </a:p>
        </p:txBody>
      </p:sp>
      <p:pic>
        <p:nvPicPr>
          <p:cNvPr id="305" name="Google Shape;30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5925" y="747900"/>
            <a:ext cx="196254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Gabor Filters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88"/>
              <a:t>(1D examples)</a:t>
            </a:r>
            <a:endParaRPr sz="1688"/>
          </a:p>
        </p:txBody>
      </p:sp>
      <p:pic>
        <p:nvPicPr>
          <p:cNvPr id="311" name="Google Shape;31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775" y="1348051"/>
            <a:ext cx="5808399" cy="23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6775" y="3876150"/>
            <a:ext cx="5555776" cy="8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2D Gabor Filters</a:t>
            </a:r>
            <a:endParaRPr/>
          </a:p>
        </p:txBody>
      </p:sp>
      <p:pic>
        <p:nvPicPr>
          <p:cNvPr id="318" name="Google Shape;31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825" y="1166375"/>
            <a:ext cx="2726925" cy="82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4525" y="527675"/>
            <a:ext cx="2890399" cy="216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6500" y="2728801"/>
            <a:ext cx="6213611" cy="214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313" y="152400"/>
            <a:ext cx="646337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313" y="152400"/>
            <a:ext cx="656936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063" y="152400"/>
            <a:ext cx="665386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650" y="106575"/>
            <a:ext cx="679071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GIST</a:t>
            </a:r>
            <a:endParaRPr/>
          </a:p>
        </p:txBody>
      </p:sp>
      <p:pic>
        <p:nvPicPr>
          <p:cNvPr id="346" name="Google Shape;34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225" y="1170125"/>
            <a:ext cx="645755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285727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HOG descriptor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HOG</a:t>
            </a:r>
            <a:endParaRPr/>
          </a:p>
        </p:txBody>
      </p:sp>
      <p:sp>
        <p:nvSpPr>
          <p:cNvPr id="357" name="Google Shape;357;p53"/>
          <p:cNvSpPr txBox="1"/>
          <p:nvPr/>
        </p:nvSpPr>
        <p:spPr>
          <a:xfrm>
            <a:off x="346825" y="922700"/>
            <a:ext cx="730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Dalal, Triggs. Histograms of Oriented Gradients for Human Detection. CVPR, 2005</a:t>
            </a:r>
            <a:endParaRPr sz="900"/>
          </a:p>
        </p:txBody>
      </p:sp>
      <p:pic>
        <p:nvPicPr>
          <p:cNvPr id="358" name="Google Shape;35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150" y="1280400"/>
            <a:ext cx="6613098" cy="35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Pedestrian detection</a:t>
            </a:r>
            <a:endParaRPr/>
          </a:p>
        </p:txBody>
      </p:sp>
      <p:pic>
        <p:nvPicPr>
          <p:cNvPr id="364" name="Google Shape;36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5825" y="1017725"/>
            <a:ext cx="559422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