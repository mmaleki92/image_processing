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Source Code Pro Medium"/>
      <p:regular r:id="rId50"/>
      <p:bold r:id="rId51"/>
      <p:italic r:id="rId52"/>
      <p:boldItalic r:id="rId53"/>
    </p:embeddedFont>
    <p:embeddedFont>
      <p:font typeface="Comfortaa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SourceCodeProMedium-bold.fntdata"/><Relationship Id="rId50" Type="http://schemas.openxmlformats.org/officeDocument/2006/relationships/font" Target="fonts/SourceCodeProMedium-regular.fntdata"/><Relationship Id="rId53" Type="http://schemas.openxmlformats.org/officeDocument/2006/relationships/font" Target="fonts/SourceCodeProMedium-boldItalic.fntdata"/><Relationship Id="rId52" Type="http://schemas.openxmlformats.org/officeDocument/2006/relationships/font" Target="fonts/SourceCodeProMedium-italic.fntdata"/><Relationship Id="rId11" Type="http://schemas.openxmlformats.org/officeDocument/2006/relationships/slide" Target="slides/slide6.xml"/><Relationship Id="rId55" Type="http://schemas.openxmlformats.org/officeDocument/2006/relationships/font" Target="fonts/Comfortaa-bold.fntdata"/><Relationship Id="rId10" Type="http://schemas.openxmlformats.org/officeDocument/2006/relationships/slide" Target="slides/slide5.xml"/><Relationship Id="rId54" Type="http://schemas.openxmlformats.org/officeDocument/2006/relationships/font" Target="fonts/Comforta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ae2b012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ae2b012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eae2b012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eae2b012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eae2b012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eae2b012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ae2b012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ae2b012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ae2b012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ae2b012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ae2b012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eae2b012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eae2b012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eae2b012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eae2b012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eae2b012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eae2b012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eae2b012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eae2b012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eae2b012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eae2b012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eae2b012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eae2b012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eae2b012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eae2b012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eae2b012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eae2b012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eae2b012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eae2b012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eae2b012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eae2b012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eae2b012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eae2b012f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eae2b012f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eae2b012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eae2b012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eae2b012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3eae2b012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eae2b012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eae2b012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eae2b012f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eae2b012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eae2b012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eae2b012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eae2b012f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eae2b012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eae2b012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eae2b012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eae2b012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3eae2b012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3eae2b012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3eae2b012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eae2b012f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eae2b012f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eae2b012f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3eae2b012f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eae2b012f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3eae2b012f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eae2b012f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3eae2b012f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eae2b012f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eae2b012f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eae2b012f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3eae2b012f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3eae2b012f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3eae2b012f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eae2b012f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eae2b012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eae2b012f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3eae2b012f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eae2b012f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3eae2b012f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eae2b012f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3eae2b012f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eae2b012f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3eae2b012f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3eae2b012f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3eae2b012f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eae2b012f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3eae2b012f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3eae2b012f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3eae2b012f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3eae2b012f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3eae2b012f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3eae2b012f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3eae2b012f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3983" y="16985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>
                <a:latin typeface="Comfortaa"/>
                <a:ea typeface="Comfortaa"/>
                <a:cs typeface="Comfortaa"/>
                <a:sym typeface="Comfortaa"/>
              </a:rPr>
              <a:t>Harris Corners</a:t>
            </a:r>
            <a:endParaRPr sz="51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995" y="113075"/>
            <a:ext cx="4697450" cy="27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01100" y="33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you find a corner?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925" y="1363800"/>
            <a:ext cx="6459276" cy="267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720775" y="4268125"/>
            <a:ext cx="741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Easily recognized by looking through a small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Shifting the window should give large change in intensity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921700" y="1017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[Moravec 1980]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313" y="653100"/>
            <a:ext cx="7797375" cy="369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6936200" y="4583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[Moravec 1980]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509550" y="1808550"/>
            <a:ext cx="8520600" cy="1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Design a program to detect corners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(hint: use image gradients)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41050" y="1498100"/>
            <a:ext cx="5277900" cy="29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1.Compute image gradients over small region</a:t>
            </a:r>
            <a:endParaRPr sz="1300">
              <a:solidFill>
                <a:srgbClr val="0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2.Subtract mean from each image gradient</a:t>
            </a:r>
            <a:endParaRPr sz="1300">
              <a:solidFill>
                <a:srgbClr val="0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3.Compute the covariance matrix</a:t>
            </a:r>
            <a:endParaRPr sz="1300">
              <a:solidFill>
                <a:srgbClr val="0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4.Compute eigenvectors and Eigenvalues</a:t>
            </a:r>
            <a:endParaRPr sz="1300">
              <a:solidFill>
                <a:srgbClr val="0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5.Use threshold on eigenvalues to detect corners</a:t>
            </a:r>
            <a:endParaRPr sz="1300">
              <a:solidFill>
                <a:srgbClr val="0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8425" y="442125"/>
            <a:ext cx="3320250" cy="431792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88650" y="1908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corners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(a.k.a. PCA)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07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1. Compute image gradients over a small region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(not just a single pixel)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149175" y="119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/>
              <a:t>1. Compute image gradients over a small region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/>
              <a:t>(not just a single pixel)</a:t>
            </a:r>
            <a:endParaRPr sz="2320"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75" y="1224075"/>
            <a:ext cx="4063726" cy="377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450" y="1404463"/>
            <a:ext cx="2702400" cy="34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visualization of gradients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350" y="1088925"/>
            <a:ext cx="434083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450" y="380175"/>
            <a:ext cx="7009751" cy="200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025" y="2384600"/>
            <a:ext cx="7768876" cy="22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1710750" y="4535275"/>
            <a:ext cx="57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does the distribution tell you about the region?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450" y="380175"/>
            <a:ext cx="7009751" cy="200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/>
        </p:nvSpPr>
        <p:spPr>
          <a:xfrm>
            <a:off x="1710750" y="4535275"/>
            <a:ext cx="57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distribution reveals edge orientation and magnitude</a:t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812" y="2421613"/>
            <a:ext cx="7212374" cy="20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450" y="380175"/>
            <a:ext cx="7009751" cy="200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/>
        </p:nvSpPr>
        <p:spPr>
          <a:xfrm>
            <a:off x="1710750" y="4535275"/>
            <a:ext cx="57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you quantify orientation and magnitude?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812" y="2421613"/>
            <a:ext cx="7212374" cy="20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1064825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Subtract the mean from each image gradient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252625" y="26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20"/>
              <a:t>2. Subtract the mean from each image gradient</a:t>
            </a:r>
            <a:endParaRPr sz="2220"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325" y="836576"/>
            <a:ext cx="4722400" cy="205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7500" y="2840927"/>
            <a:ext cx="4744798" cy="19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Compute the covariance matrix</a:t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325" y="1484100"/>
            <a:ext cx="4693350" cy="280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1138700" y="91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20"/>
              <a:t>Change of intensity for the shift [u,v]:</a:t>
            </a:r>
            <a:endParaRPr sz="1320"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550" y="1336449"/>
            <a:ext cx="6849225" cy="21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302725" y="1698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function</a:t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6250" y="3671001"/>
            <a:ext cx="5813649" cy="11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675" y="1151875"/>
            <a:ext cx="5862651" cy="29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</a:rPr>
              <a:t>Which error surface indicates a good image feature?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525" y="1209575"/>
            <a:ext cx="2857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7025" y="1209563"/>
            <a:ext cx="2857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4800" y="1209563"/>
            <a:ext cx="28575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9"/>
          <p:cNvSpPr txBox="1"/>
          <p:nvPr/>
        </p:nvSpPr>
        <p:spPr>
          <a:xfrm>
            <a:off x="622675" y="3935525"/>
            <a:ext cx="802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</a:rPr>
              <a:t>What kind of image patch do these surfaces represent?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525" y="1209575"/>
            <a:ext cx="2857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7025" y="1209563"/>
            <a:ext cx="2857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4800" y="1209563"/>
            <a:ext cx="28575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 txBox="1"/>
          <p:nvPr/>
        </p:nvSpPr>
        <p:spPr>
          <a:xfrm>
            <a:off x="1432425" y="3403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flat</a:t>
            </a:r>
            <a:endParaRPr/>
          </a:p>
        </p:txBody>
      </p:sp>
      <p:sp>
        <p:nvSpPr>
          <p:cNvPr id="169" name="Google Shape;169;p30"/>
          <p:cNvSpPr txBox="1"/>
          <p:nvPr/>
        </p:nvSpPr>
        <p:spPr>
          <a:xfrm>
            <a:off x="4149650" y="31885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‘line’</a:t>
            </a:r>
            <a:endParaRPr/>
          </a:p>
        </p:txBody>
      </p:sp>
      <p:sp>
        <p:nvSpPr>
          <p:cNvPr id="170" name="Google Shape;170;p30"/>
          <p:cNvSpPr txBox="1"/>
          <p:nvPr/>
        </p:nvSpPr>
        <p:spPr>
          <a:xfrm>
            <a:off x="7103150" y="33527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‘dot’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Compute eigenvalues and eigenvectors</a:t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3558950" y="234212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latin typeface="Comfortaa"/>
                <a:ea typeface="Comfortaa"/>
                <a:cs typeface="Comfortaa"/>
                <a:sym typeface="Comfortaa"/>
              </a:rPr>
              <a:t>eig(M)</a:t>
            </a:r>
            <a:endParaRPr b="1" sz="23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257200" y="208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720"/>
              <a:t>4. Compute eigenvalues and eigenvectors</a:t>
            </a:r>
            <a:endParaRPr sz="1720"/>
          </a:p>
        </p:txBody>
      </p:sp>
      <p:pic>
        <p:nvPicPr>
          <p:cNvPr id="182" name="Google Shape;1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025" y="650775"/>
            <a:ext cx="4418151" cy="134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257200" y="208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720"/>
              <a:t>4. Compute eigenvalues and eigenvectors</a:t>
            </a:r>
            <a:endParaRPr sz="1720"/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025" y="650775"/>
            <a:ext cx="4418151" cy="13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7100" y="1995425"/>
            <a:ext cx="7009799" cy="9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257200" y="208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720"/>
              <a:t>4. Compute eigenvalues and eigenvectors</a:t>
            </a:r>
            <a:endParaRPr sz="1720"/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025" y="650775"/>
            <a:ext cx="4418151" cy="13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7100" y="1995425"/>
            <a:ext cx="7009799" cy="9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808" y="2909500"/>
            <a:ext cx="6978325" cy="870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257200" y="208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720"/>
              <a:t>4. Compute eigenvalues and eigenvectors</a:t>
            </a:r>
            <a:endParaRPr sz="1720"/>
          </a:p>
        </p:txBody>
      </p:sp>
      <p:pic>
        <p:nvPicPr>
          <p:cNvPr id="203" name="Google Shape;2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025" y="650775"/>
            <a:ext cx="4418151" cy="13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7100" y="1995425"/>
            <a:ext cx="7009799" cy="9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808" y="2909500"/>
            <a:ext cx="6978325" cy="87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5950" y="3780300"/>
            <a:ext cx="6978326" cy="88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Visualization as an ellipse</a:t>
            </a:r>
            <a:endParaRPr/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945" y="1469370"/>
            <a:ext cx="4184100" cy="21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eigenvalues</a:t>
            </a:r>
            <a:endParaRPr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913" y="1147975"/>
            <a:ext cx="441816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interpreting eigenvalues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125" y="1118450"/>
            <a:ext cx="431434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eigenvalues</a:t>
            </a:r>
            <a:endParaRPr/>
          </a:p>
        </p:txBody>
      </p:sp>
      <p:pic>
        <p:nvPicPr>
          <p:cNvPr id="230" name="Google Shape;23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625" y="1125825"/>
            <a:ext cx="445074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385550" y="2165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Use threshold on eigenvalues to detect corners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Use threshold on eigenvalues to detect corners</a:t>
            </a:r>
            <a:endParaRPr/>
          </a:p>
        </p:txBody>
      </p:sp>
      <p:sp>
        <p:nvSpPr>
          <p:cNvPr id="241" name="Google Shape;241;p41"/>
          <p:cNvSpPr txBox="1"/>
          <p:nvPr/>
        </p:nvSpPr>
        <p:spPr>
          <a:xfrm>
            <a:off x="4851100" y="23406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Think of a function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score ‘cornerness’</a:t>
            </a:r>
            <a:endParaRPr/>
          </a:p>
        </p:txBody>
      </p:sp>
      <p:pic>
        <p:nvPicPr>
          <p:cNvPr id="242" name="Google Shape;2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066750"/>
            <a:ext cx="3778502" cy="38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Use threshold on eigenvalues to detect corners</a:t>
            </a:r>
            <a:endParaRPr/>
          </a:p>
        </p:txBody>
      </p:sp>
      <p:pic>
        <p:nvPicPr>
          <p:cNvPr id="248" name="Google Shape;2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66750"/>
            <a:ext cx="3687857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2"/>
          <p:cNvSpPr txBox="1"/>
          <p:nvPr/>
        </p:nvSpPr>
        <p:spPr>
          <a:xfrm>
            <a:off x="4851100" y="23406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Think of a function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score ‘cornerness’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Use threshold on eigenvalues to detect corners</a:t>
            </a:r>
            <a:endParaRPr/>
          </a:p>
        </p:txBody>
      </p:sp>
      <p:pic>
        <p:nvPicPr>
          <p:cNvPr id="255" name="Google Shape;2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77584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5273" y="910350"/>
            <a:ext cx="1235600" cy="3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0023" y="2750225"/>
            <a:ext cx="2631150" cy="66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3"/>
          <p:cNvSpPr txBox="1"/>
          <p:nvPr/>
        </p:nvSpPr>
        <p:spPr>
          <a:xfrm>
            <a:off x="5365600" y="19561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the smallest eigenvalue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the response function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225" y="1235500"/>
            <a:ext cx="370047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>
            <p:ph type="title"/>
          </p:nvPr>
        </p:nvSpPr>
        <p:spPr>
          <a:xfrm>
            <a:off x="294550" y="444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Use threshold on eigenvalues to detect corners</a:t>
            </a:r>
            <a:endParaRPr/>
          </a:p>
        </p:txBody>
      </p:sp>
      <p:pic>
        <p:nvPicPr>
          <p:cNvPr id="265" name="Google Shape;26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5273" y="910350"/>
            <a:ext cx="1235600" cy="3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2574" y="1998200"/>
            <a:ext cx="3176451" cy="18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850" y="590700"/>
            <a:ext cx="6668251" cy="41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212" y="561175"/>
            <a:ext cx="3639575" cy="386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325" y="508150"/>
            <a:ext cx="5639925" cy="430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638" y="152400"/>
            <a:ext cx="6408730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375" y="108100"/>
            <a:ext cx="748725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75" y="152400"/>
            <a:ext cx="748725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375" y="108100"/>
            <a:ext cx="748725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375" y="304800"/>
            <a:ext cx="748725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2"/>
          <p:cNvSpPr txBox="1"/>
          <p:nvPr/>
        </p:nvSpPr>
        <p:spPr>
          <a:xfrm>
            <a:off x="95975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Thresholded corner response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825" y="542900"/>
            <a:ext cx="6884301" cy="44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53"/>
          <p:cNvSpPr txBox="1"/>
          <p:nvPr/>
        </p:nvSpPr>
        <p:spPr>
          <a:xfrm>
            <a:off x="612850" y="142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Non-maximal suppression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613" y="493100"/>
            <a:ext cx="6662776" cy="431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950" y="1165925"/>
            <a:ext cx="4809426" cy="29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55"/>
          <p:cNvSpPr txBox="1"/>
          <p:nvPr/>
        </p:nvSpPr>
        <p:spPr>
          <a:xfrm>
            <a:off x="1278900" y="4356375"/>
            <a:ext cx="658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Corner response R is invariant to image rotation</a:t>
            </a:r>
            <a:endParaRPr/>
          </a:p>
        </p:txBody>
      </p:sp>
      <p:sp>
        <p:nvSpPr>
          <p:cNvPr id="325" name="Google Shape;325;p55"/>
          <p:cNvSpPr txBox="1"/>
          <p:nvPr/>
        </p:nvSpPr>
        <p:spPr>
          <a:xfrm>
            <a:off x="509475" y="332275"/>
            <a:ext cx="707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Harris corner response is rotation invariant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875" y="1036800"/>
            <a:ext cx="6862126" cy="39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6"/>
          <p:cNvSpPr txBox="1"/>
          <p:nvPr/>
        </p:nvSpPr>
        <p:spPr>
          <a:xfrm>
            <a:off x="2688938" y="280575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intensity changes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